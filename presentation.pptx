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e009acf66d4a26" /><Relationship Type="http://schemas.openxmlformats.org/officeDocument/2006/relationships/extended-properties" Target="/docProps/app.xml" Id="R341aa578ff3a4445" /><Relationship Type="http://schemas.openxmlformats.org/officeDocument/2006/relationships/officeDocument" Target="/ppt/presentation.xml" Id="R00cdad828ae446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56dffe05624246"/>
  </p:sldMasterIdLst>
  <p:notesMasterIdLst>
    <p:notesMasterId xmlns:r="http://schemas.openxmlformats.org/officeDocument/2006/relationships" r:id="R6d53677a1d3c4629"/>
  </p:notesMasterIdLst>
  <p:sldIdLst>
    <p:sldId xmlns:r="http://schemas.openxmlformats.org/officeDocument/2006/relationships" id="256" r:id="Rb5441f1f41c24355"/>
    <p:sldId xmlns:r="http://schemas.openxmlformats.org/officeDocument/2006/relationships" id="257" r:id="R2336ba8688984927"/>
    <p:sldId xmlns:r="http://schemas.openxmlformats.org/officeDocument/2006/relationships" id="258" r:id="R60d6eec6d4764d1e"/>
    <p:sldId xmlns:r="http://schemas.openxmlformats.org/officeDocument/2006/relationships" id="259" r:id="R16211eb8db844924"/>
    <p:sldId xmlns:r="http://schemas.openxmlformats.org/officeDocument/2006/relationships" id="260" r:id="Re3c7bfbb6d0647c6"/>
    <p:sldId xmlns:r="http://schemas.openxmlformats.org/officeDocument/2006/relationships" id="261" r:id="R958669e50f294e47"/>
    <p:sldId xmlns:r="http://schemas.openxmlformats.org/officeDocument/2006/relationships" id="262" r:id="Rae998244506e402f"/>
    <p:sldId xmlns:r="http://schemas.openxmlformats.org/officeDocument/2006/relationships" id="263" r:id="R1d0202159d0340b6"/>
    <p:sldId xmlns:r="http://schemas.openxmlformats.org/officeDocument/2006/relationships" id="264" r:id="R18cedc495c8f4bdb"/>
    <p:sldId xmlns:r="http://schemas.openxmlformats.org/officeDocument/2006/relationships" id="265" r:id="Rc8e092c872ab41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3132f95f204d05" /><Relationship Type="http://schemas.openxmlformats.org/officeDocument/2006/relationships/slideMaster" Target="/ppt/slideMasters/slideMaster1.xml" Id="R0956dffe05624246" /><Relationship Type="http://schemas.openxmlformats.org/officeDocument/2006/relationships/notesMaster" Target="/ppt/notesMasters/notesMaster1.xml" Id="R6d53677a1d3c4629" /><Relationship Type="http://schemas.openxmlformats.org/officeDocument/2006/relationships/presProps" Target="/ppt/presProps.xml" Id="R662bbf16f1424914" /><Relationship Type="http://schemas.openxmlformats.org/officeDocument/2006/relationships/tableStyles" Target="/ppt/tableStyles.xml" Id="R9ef23e37d61e4068" /><Relationship Type="http://schemas.openxmlformats.org/officeDocument/2006/relationships/slide" Target="/ppt/slides/slide1.xml" Id="Rb5441f1f41c24355" /><Relationship Type="http://schemas.openxmlformats.org/officeDocument/2006/relationships/slide" Target="/ppt/slides/slide2.xml" Id="R2336ba8688984927" /><Relationship Type="http://schemas.openxmlformats.org/officeDocument/2006/relationships/slide" Target="/ppt/slides/slide3.xml" Id="R60d6eec6d4764d1e" /><Relationship Type="http://schemas.openxmlformats.org/officeDocument/2006/relationships/slide" Target="/ppt/slides/slide4.xml" Id="R16211eb8db844924" /><Relationship Type="http://schemas.openxmlformats.org/officeDocument/2006/relationships/slide" Target="/ppt/slides/slide5.xml" Id="Re3c7bfbb6d0647c6" /><Relationship Type="http://schemas.openxmlformats.org/officeDocument/2006/relationships/slide" Target="/ppt/slides/slide6.xml" Id="R958669e50f294e47" /><Relationship Type="http://schemas.openxmlformats.org/officeDocument/2006/relationships/slide" Target="/ppt/slides/slide7.xml" Id="Rae998244506e402f" /><Relationship Type="http://schemas.openxmlformats.org/officeDocument/2006/relationships/slide" Target="/ppt/slides/slide8.xml" Id="R1d0202159d0340b6" /><Relationship Type="http://schemas.openxmlformats.org/officeDocument/2006/relationships/slide" Target="/ppt/slides/slide9.xml" Id="R18cedc495c8f4bdb" /><Relationship Type="http://schemas.openxmlformats.org/officeDocument/2006/relationships/slide" Target="/ppt/slides/slide10.xml" Id="Rc8e092c872ab41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708ea3a58244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b658316c274727" /><Relationship Type="http://schemas.openxmlformats.org/officeDocument/2006/relationships/notesMaster" Target="/ppt/notesMasters/notesMaster1.xml" Id="R18918b6362ff41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f52a3eb2c34897" /><Relationship Type="http://schemas.openxmlformats.org/officeDocument/2006/relationships/notesMaster" Target="/ppt/notesMasters/notesMaster1.xml" Id="R9ec36457d98747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48379933444a1a" /><Relationship Type="http://schemas.openxmlformats.org/officeDocument/2006/relationships/notesMaster" Target="/ppt/notesMasters/notesMaster1.xml" Id="Rac510b27e6a54b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d8e89a6eb7495f" /><Relationship Type="http://schemas.openxmlformats.org/officeDocument/2006/relationships/notesMaster" Target="/ppt/notesMasters/notesMaster1.xml" Id="Rfa823445805948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e2583c7fa44618" /><Relationship Type="http://schemas.openxmlformats.org/officeDocument/2006/relationships/notesMaster" Target="/ppt/notesMasters/notesMaster1.xml" Id="R254e922bd15741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0a3e86c6554f73" /><Relationship Type="http://schemas.openxmlformats.org/officeDocument/2006/relationships/notesMaster" Target="/ppt/notesMasters/notesMaster1.xml" Id="R4ab43ef637c647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b463b6e8844e93" /><Relationship Type="http://schemas.openxmlformats.org/officeDocument/2006/relationships/notesMaster" Target="/ppt/notesMasters/notesMaster1.xml" Id="R74b5895dff974b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4977fbf0e94a64" /><Relationship Type="http://schemas.openxmlformats.org/officeDocument/2006/relationships/notesMaster" Target="/ppt/notesMasters/notesMaster1.xml" Id="Rf66c9784d60248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da863d966f4e30" /><Relationship Type="http://schemas.openxmlformats.org/officeDocument/2006/relationships/notesMaster" Target="/ppt/notesMasters/notesMaster1.xml" Id="Ra1bd113ace7a40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c3bf3b297648b2" /><Relationship Type="http://schemas.openxmlformats.org/officeDocument/2006/relationships/notesMaster" Target="/ppt/notesMasters/notesMaster1.xml" Id="Ra687f91bb5da4e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083f210fd34b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af2ad6d60842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546035c554b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ecac4718f842d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2e61a7db354f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18d2e9c7c442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43F4F5-2123-4CCB-8B6A-4C4734CD17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69632F5-2D61-40EF-94CE-1296470B2F4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0E928D0-09E0-42CB-8EB6-CE10207C57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7AC6E6-EC60-4BEF-90ED-D8499BBC1B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7907A2-8160-435F-B8D2-A242CC646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A8C317A-409C-4019-B452-655B45476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97EA115-EFB3-4078-BD11-B0CCB12AD4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6ABA48A-3042-4A81-AA78-9B03D6B6EA3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BE3C20-4A99-4AFC-A42D-310225627A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EC8D7FE-50B4-479F-90DB-79F6A3B89D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b472b3cab247f8" /><Relationship Type="http://schemas.openxmlformats.org/officeDocument/2006/relationships/slideLayout" Target="/ppt/slideLayouts/slideLayout1.xml" Id="R9ce4adf6a7c64d89" /><Relationship Type="http://schemas.openxmlformats.org/officeDocument/2006/relationships/slideLayout" Target="/ppt/slideLayouts/slideLayout2.xml" Id="R83dbf17d3904404e" /><Relationship Type="http://schemas.openxmlformats.org/officeDocument/2006/relationships/slideLayout" Target="/ppt/slideLayouts/slideLayout3.xml" Id="Rd8da4be65b774d8f" /><Relationship Type="http://schemas.openxmlformats.org/officeDocument/2006/relationships/slideLayout" Target="/ppt/slideLayouts/slideLayout4.xml" Id="Rd018090791cd47d5" /><Relationship Type="http://schemas.openxmlformats.org/officeDocument/2006/relationships/slideLayout" Target="/ppt/slideLayouts/slideLayout5.xml" Id="R301e4588e7894dbc" /><Relationship Type="http://schemas.openxmlformats.org/officeDocument/2006/relationships/slideLayout" Target="/ppt/slideLayouts/slideLayout6.xml" Id="R94351152d41143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e4adf6a7c64d89"/>
    <p:sldLayoutId xmlns:r="http://schemas.openxmlformats.org/officeDocument/2006/relationships" id="2147483650" r:id="R83dbf17d3904404e"/>
    <p:sldLayoutId xmlns:r="http://schemas.openxmlformats.org/officeDocument/2006/relationships" id="2147483651" r:id="Rd8da4be65b774d8f"/>
    <p:sldLayoutId xmlns:r="http://schemas.openxmlformats.org/officeDocument/2006/relationships" id="2147483652" r:id="Rd018090791cd47d5"/>
    <p:sldLayoutId xmlns:r="http://schemas.openxmlformats.org/officeDocument/2006/relationships" id="2147483653" r:id="R301e4588e7894dbc"/>
    <p:sldLayoutId xmlns:r="http://schemas.openxmlformats.org/officeDocument/2006/relationships" id="2147483654" r:id="R94351152d41143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bf2ca4e4dc4fc7" /><Relationship Type="http://schemas.openxmlformats.org/officeDocument/2006/relationships/notesSlide" Target="/ppt/notesSlides/notesSlide1.xml" Id="R8ad61a27edd84e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fbce0cdb4649f4" /><Relationship Type="http://schemas.openxmlformats.org/officeDocument/2006/relationships/notesSlide" Target="/ppt/notesSlides/notesSlide2.xml" Id="R199798cfb97b43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a150ac37e34472" /><Relationship Type="http://schemas.openxmlformats.org/officeDocument/2006/relationships/notesSlide" Target="/ppt/notesSlides/notesSlide3.xml" Id="Rd202d7c0c98748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7443cdbeec4970" /><Relationship Type="http://schemas.openxmlformats.org/officeDocument/2006/relationships/notesSlide" Target="/ppt/notesSlides/notesSlide4.xml" Id="Rf65b5e28a0b146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3a0ac9a3f24af3" /><Relationship Type="http://schemas.openxmlformats.org/officeDocument/2006/relationships/notesSlide" Target="/ppt/notesSlides/notesSlide5.xml" Id="Rb2ba7da91ced48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ee0b03d91d4f65" /><Relationship Type="http://schemas.openxmlformats.org/officeDocument/2006/relationships/image" Target="/ppt/media/image.png" Id="Rcc672b664fb64811" /><Relationship Type="http://schemas.openxmlformats.org/officeDocument/2006/relationships/notesSlide" Target="/ppt/notesSlides/notesSlide6.xml" Id="Ra7a2f57ea1994c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4ee7fc91f54d36" /><Relationship Type="http://schemas.openxmlformats.org/officeDocument/2006/relationships/image" Target="/ppt/media/image2.png" Id="R483a9794ee9647fd" /><Relationship Type="http://schemas.openxmlformats.org/officeDocument/2006/relationships/notesSlide" Target="/ppt/notesSlides/notesSlide7.xml" Id="R9afadf68a0324f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56464329884265" /><Relationship Type="http://schemas.openxmlformats.org/officeDocument/2006/relationships/notesSlide" Target="/ppt/notesSlides/notesSlide8.xml" Id="R3a714f7d15ac49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5a1cd114fc4706" /><Relationship Type="http://schemas.openxmlformats.org/officeDocument/2006/relationships/notesSlide" Target="/ppt/notesSlides/notesSlide9.xml" Id="Re7bc440e31fa4f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44dcda5f114ce1" /><Relationship Type="http://schemas.openxmlformats.org/officeDocument/2006/relationships/notesSlide" Target="/ppt/notesSlides/notesSlide10.xml" Id="R72103261296147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2F9EB3-6164-463C-8E08-3746A943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ЦИФРОВОЙ РУДНИК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791E3-159B-42D5-8124-DDAA60DA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667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0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40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Цифровой двойник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40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безопасности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40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подземной шахты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669E6-6148-47D8-8D6C-F036D925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Вентиляция · телеметрия · риск · what-if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C7ECF6-6ED1-46E3-9C96-7563520F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962900" y="1104900"/>
            <a:ext cx="9525" cy="396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9464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DF178-0F67-42C3-8BF4-79BB9A8D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962900" y="2686050"/>
            <a:ext cx="19431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946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4F413-D70E-4FE8-BD19-8E7329B3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906000" y="1866900"/>
            <a:ext cx="933450" cy="819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946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43289-3C04-47BC-8584-2E590882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06000" y="2686050"/>
            <a:ext cx="933450" cy="838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9464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6E770-BBD7-441A-BC1B-96A67C40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06000" y="2686050"/>
            <a:ext cx="9525" cy="1885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9464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9C8362-B4EC-4527-88B5-C1E8086F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33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071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F773A6-82D8-4865-BCB8-A61CC463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533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0713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6FB2AE-A375-4093-B1AA-6D3C3F00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17145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9525">
            <a:solidFill>
              <a:srgbClr val="071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3E2D8-FAC9-4F1E-9223-B3EB7891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3718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FF"/>
          </a:solidFill>
          <a:ln xmlns:a="http://schemas.openxmlformats.org/drawingml/2006/main" w="9525">
            <a:solidFill>
              <a:srgbClr val="0713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25E96-3119-4864-A259-37E1F5F5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4196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161"/>
          </a:solidFill>
          <a:ln xmlns:a="http://schemas.openxmlformats.org/drawingml/2006/main" w="9525">
            <a:solidFill>
              <a:srgbClr val="071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4A0CC-B445-4947-BCCE-565E92FF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86375"/>
            <a:ext cx="3714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16363E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buNone/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26 ЦИФРОВЫХ ДВОЙНИКОВ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F335C-8BF3-42B9-B216-FDABD6C6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Каспийский общественный университет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EA12F5-E44D-41B5-A623-4D133361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Левицкий Роман Владимирович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Якушенков Артур Борисович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563E88-18EC-407F-9455-16E7B67B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7337220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6C5778-42D5-4D00-895B-55FAD6FA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4A0E3-36BE-4523-B72F-42364780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3082F-38F1-4762-8A7E-677C1186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656F8-2E29-4AA2-A692-47EB0588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Безопасность нужно видеть как систему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3A899-8E73-45C9-81DD-F7A4C6F4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Один инцидент меняет воздух, людей, технику и маршрут действий одновременно.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2B5AB-6429-4E98-9751-38967191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924050" cy="2000250"/>
          </a:xfrm>
          <a:prstGeom xmlns:a="http://schemas.openxmlformats.org/drawingml/2006/main" prst="roundRect">
            <a:avLst>
              <a:gd name="adj" fmla="val 89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DCE5A-6CD2-4A97-92FD-638CB360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9525">
            <a:solidFill>
              <a:srgbClr val="F3B6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64EDE-8297-4BA8-BF3F-26544F15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CH₄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59DAF-1F40-4C28-88D4-3F9342E5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194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взрывоопасная среда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D20064-34C9-4B95-9F47-09135E5D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00250"/>
            <a:ext cx="1924050" cy="2000250"/>
          </a:xfrm>
          <a:prstGeom xmlns:a="http://schemas.openxmlformats.org/drawingml/2006/main" prst="roundRect">
            <a:avLst>
              <a:gd name="adj" fmla="val 89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09092-94BB-40A8-911C-E9BBF0CC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66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161"/>
          </a:solidFill>
          <a:ln xmlns:a="http://schemas.openxmlformats.org/drawingml/2006/main" w="9525">
            <a:solidFill>
              <a:srgbClr val="FF516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C38CEC-E929-4219-A9D3-D256C123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7241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ADB65-A545-4D0C-AAC2-9A07052B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194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продукты горения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22245-E788-46F8-976B-AA98C1C7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00250"/>
            <a:ext cx="1924050" cy="2000250"/>
          </a:xfrm>
          <a:prstGeom xmlns:a="http://schemas.openxmlformats.org/drawingml/2006/main" prst="roundRect">
            <a:avLst>
              <a:gd name="adj" fmla="val 89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B3F0A6-AD7F-4555-AAA1-D01836FB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66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043"/>
          </a:solidFill>
          <a:ln xmlns:a="http://schemas.openxmlformats.org/drawingml/2006/main" w="9525">
            <a:solidFill>
              <a:srgbClr val="FF704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52D64-D98B-4180-A606-936662F1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241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ДЫМ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0AA55-0851-4B7E-9A1B-AA9AE75E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194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ранний признак пожара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9CE040-92EA-4B72-9190-A83BCDFA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00250"/>
            <a:ext cx="1924050" cy="2000250"/>
          </a:xfrm>
          <a:prstGeom xmlns:a="http://schemas.openxmlformats.org/drawingml/2006/main" prst="roundRect">
            <a:avLst>
              <a:gd name="adj" fmla="val 89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EAC26F-17EB-4B9F-B102-0C264150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66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32F46A-3DB6-4C14-9F4C-1E3E7FE0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241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ПОТОК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F772D1-BA4E-4A15-9473-FAD97F1A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194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работа вентиляции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E420A9-1352-483C-9808-7C6364B6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00250"/>
            <a:ext cx="1924050" cy="2000250"/>
          </a:xfrm>
          <a:prstGeom xmlns:a="http://schemas.openxmlformats.org/drawingml/2006/main" prst="roundRect">
            <a:avLst>
              <a:gd name="adj" fmla="val 89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DBD903-9DF9-4FE2-AC82-10C863DF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66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FF"/>
          </a:solidFill>
          <a:ln xmlns:a="http://schemas.openxmlformats.org/drawingml/2006/main" w="9525">
            <a:solidFill>
              <a:srgbClr val="56B6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DB84DE-BC24-4796-9AA0-D75CC879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7241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ЛЮДИ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50E367-AE15-43AB-9C7A-5B2B9441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2194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зона воздействия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C16FC5-E447-4EA3-8807-1D252A93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Задача проекта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0A1E7D-09BA-43CB-892D-8741EC36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5775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Связать модель шахты, поток телеметрии и объяснимую реакцию на аварии в одном локальном стенде.</a:t>
            </a:r>
          </a:p>
        </p:txBody>
      </p:sp>
    </p:spTree>
    <p:extLst>
      <p:ext uri="{BB962C8B-B14F-4D97-AF65-F5344CB8AC3E}">
        <p14:creationId xmlns:p14="http://schemas.microsoft.com/office/powerpoint/2010/main" val="19126343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1A1BE2-3FFE-480D-BC1F-86F07E1A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D0D1F-0946-403F-8360-6FB87F95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71E9C-AAAD-4E09-B59A-8881954D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E42BE-DB5B-484F-932C-539ED966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Что построено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FE298-ED06-4D88-ACF1-8CAC5795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Полный воспроизводимый контур цифрового двойника — от объектов до диспетчерского экрана.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96C69-8414-4485-948D-88274686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24765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37CC33-FA6C-4D46-A176-5BDF4362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384C60-315E-4559-B1EB-291F7CA9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01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цифровых двойников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82C9C-0EB6-40AF-B6CB-131AC0A6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24765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E1DD3-8D34-4377-8FD8-62C2E5EF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1455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56B6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56B6FF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56B6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AAB55E-A8BF-4486-A070-865F1069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57500"/>
            <a:ext cx="201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контролируемых зон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2E0C5-E0C8-4F3E-889D-8AA91B78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885950"/>
            <a:ext cx="24765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F2689B-2CB2-48DF-A73C-BCD21F4B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F3B63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F3B63F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F3B63F"/>
                </a:solidFill>
                <a:latin typeface="Segoe UI"/>
                <a:ea typeface="Segoe UI"/>
                <a:cs typeface="Segoe UI"/>
              </a:rPr>
              <a:t>2 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DF6B84-E1C3-4E22-A3E8-D0DC6350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57500"/>
            <a:ext cx="201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период телеметрии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1501B0-6F47-4748-A946-FC6E9CBC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85950"/>
            <a:ext cx="28956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F249E-34AE-4929-B3C2-A9055A2B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14550"/>
            <a:ext cx="2438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FF5161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72BD6-2EED-4CF8-B6C7-21414F1A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2438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аварийных сценария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043D5A-6AE5-4A90-BF10-28D56DF8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10839450" cy="1790700"/>
          </a:xfrm>
          <a:prstGeom xmlns:a="http://schemas.openxmlformats.org/drawingml/2006/main" prst="roundRect">
            <a:avLst>
              <a:gd name="adj" fmla="val 9574"/>
            </a:avLst>
          </a:prstGeom>
          <a:solidFill xmlns:a="http://schemas.openxmlformats.org/drawingml/2006/main">
            <a:srgbClr val="102C34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A6F416-590A-4A95-9EC3-F4D78B8D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Один экран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92CC59-FDE3-430A-BBD7-D1EDA7EE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карта · KPI · причины риска · прогноз · энергетика · маршруты эвакуации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85F561-5875-4B4A-8A21-1AF512CC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962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История метрик сохраняется в InfluxDB и отображается в Grafana.</a:t>
            </a:r>
          </a:p>
        </p:txBody>
      </p:sp>
    </p:spTree>
    <p:extLst>
      <p:ext uri="{BB962C8B-B14F-4D97-AF65-F5344CB8AC3E}">
        <p14:creationId xmlns:p14="http://schemas.microsoft.com/office/powerpoint/2010/main" val="4785690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DFE839-891D-4747-92A6-F97CF5F9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95CC1-0CA7-444A-AFC4-DF01D47D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AA1F88-F06F-4768-B1C0-74B9F55B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A2915-A323-42A0-AB33-844774B0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Модель подземной шахты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C4230-7A3F-42B3-8AF7-C781AA0E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Ориентированный граф задаёт зоны и направление приточной вентиляции.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D7801-0E2A-4F87-8AFE-727FAE88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09750" y="33147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27D7C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5DDD8-50D9-44A3-A702-CED6A671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286500" y="2209800"/>
            <a:ext cx="1600200" cy="1104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27D7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F5AB0-7179-459D-8680-2AAD8CAB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86500" y="3314700"/>
            <a:ext cx="1600200" cy="1104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27D7C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5313A-70AC-4B72-BFC1-47077C47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43500" y="3771900"/>
            <a:ext cx="9525" cy="1162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27D7C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EB70F-AF14-4589-A24E-8140B012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7145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78F37-8CF4-4603-A81B-A92FFCA4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670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FF"/>
          </a:solidFill>
          <a:ln xmlns:a="http://schemas.openxmlformats.org/drawingml/2006/main" w="9525">
            <a:solidFill>
              <a:srgbClr val="56B6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E1A7E-C626-4D3E-B875-7C264710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289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Ствол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9D69A7-1983-4F96-BC0E-55A1E410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shaft · датчик 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49B7E7-4536-45CB-94FB-8B9FA59F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76550"/>
            <a:ext cx="29527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55C4EB-C55B-4BFA-A64B-6A4E4CA0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670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252B3-A9AD-440A-B5EB-AB15D11A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28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Главный штрек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E7ECCF-8373-4E47-935C-693377EE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813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main_drift · датчики 02–03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4AF35D-AE6F-447F-B965-C10F3AC5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3143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79D31-19D0-4BA4-B381-11F3093E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885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9525">
            <a:solidFill>
              <a:srgbClr val="F3B63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F6062A-CD4B-4867-8EF6-DCE9289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4785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Добычный участок 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C623EF-8051-477B-ABDC-45CDB295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027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section_a · 3 работника · ПДМ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9C6283-D4C9-4724-906B-5F70459A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00500"/>
            <a:ext cx="3143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202AD2-4091-4ABA-9BDF-D2FAD853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191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FF"/>
          </a:solidFill>
          <a:ln xmlns:a="http://schemas.openxmlformats.org/drawingml/2006/main" w="9525">
            <a:solidFill>
              <a:srgbClr val="56B6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EDF812-A2AE-40C4-8247-85436724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52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Добычный участок 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D76160-92A0-4B66-A3FB-7B2606DE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50532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section_b · 3 работника · транспорт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A05CB1-7861-4AD7-8898-F820B212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33950"/>
            <a:ext cx="29527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2085E7-2612-4453-9E3E-ECC8CC37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124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161"/>
          </a:solidFill>
          <a:ln xmlns:a="http://schemas.openxmlformats.org/drawingml/2006/main" w="9525">
            <a:solidFill>
              <a:srgbClr val="FF516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1AC22C-EF98-405F-9E9B-D9949F71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863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Эвакуационная камера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563608-0811-494F-8CF7-2438733C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4387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refuge_chamber · работник 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A41241-77F7-44AA-A08E-87F5F30A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3812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C34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22FF82-D207-4317-BE3E-CBA7EA31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244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Инвентарь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12376B-9F80-4F93-A57D-6B488E98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270"/>
          </a:bodyPr>
          <a:lstStyle xmlns:a="http://schemas.openxmlformats.org/drawingml/2006/main">
            <a:defPPr algn="l">
              <a:defRPr sz="10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3 вентилятора · 5 датчиков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10 работников · 2 единицы техники</a:t>
            </a:r>
          </a:p>
        </p:txBody>
      </p:sp>
    </p:spTree>
    <p:extLst>
      <p:ext uri="{BB962C8B-B14F-4D97-AF65-F5344CB8AC3E}">
        <p14:creationId xmlns:p14="http://schemas.microsoft.com/office/powerpoint/2010/main" val="7215699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7ABCBE-E852-4358-B9FC-2201A825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37B91-CB5E-41EA-AB72-E287717D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A97FC-5F0E-48E3-9F3B-57CCE4F9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376D5-2C5B-4653-B97D-5C969C66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Архитектура: единый поток данных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37467-F322-47CC-BB5E-B338C361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Все компоненты запускаются Docker Compose и проверяются одной командой.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0B3B86-C1FA-4B96-AE4E-7B8D9192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695450" cy="13144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174ADA-153B-4120-87CD-A699C5E3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66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965CA-3582-46BF-86B6-BFC103B6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6"/>
          </a:bodyPr>
          <a:lstStyle xmlns:a="http://schemas.openxmlformats.org/drawingml/2006/main">
            <a:defPPr algn="ctr"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Python-модель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D7600D-C3B8-4662-B9D0-29C1B2BA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состояния и сценарии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5758C-8597-4E71-95C4-D30E20CE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86050"/>
            <a:ext cx="285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E3093-28F5-49DB-A5FC-7FA8AD0B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47900"/>
            <a:ext cx="1695450" cy="13144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DAF6C-9182-4A2E-A18B-7102EA00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466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FF"/>
          </a:solidFill>
          <a:ln xmlns:a="http://schemas.openxmlformats.org/drawingml/2006/main" w="9525">
            <a:solidFill>
              <a:srgbClr val="56B6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23A74-E30E-4A48-B189-C5DDFAA3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0035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MQTT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5C479-89C0-4468-B28D-EF9ED88D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9087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публикация событий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E8801-5BC9-4A1D-902A-1D371CDC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285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E3C666-D05F-4A14-A563-AE8344E9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47900"/>
            <a:ext cx="1695450" cy="13144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D69AB7-54EF-447D-8542-1E0AD82A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466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9525">
            <a:solidFill>
              <a:srgbClr val="F3B63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97F6D8-654D-420D-B853-C46B7189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0035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Eclipse Ditto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04AF59-6E2B-46ED-B3CC-2B162164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9087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26 digital twins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D4EF0C-55A5-40F7-9509-EAA4E4ED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285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70CBF-64E3-457F-AE47-3B5999EA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47900"/>
            <a:ext cx="1695450" cy="13144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1E8BDF-DB7A-4162-BB5D-9F6C2835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466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043"/>
          </a:solidFill>
          <a:ln xmlns:a="http://schemas.openxmlformats.org/drawingml/2006/main" w="9525">
            <a:solidFill>
              <a:srgbClr val="FF70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04074F-78B1-4EB2-AB2F-C1348FB1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0035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Telegraf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7CCAC1-C685-4582-B8F6-D5830630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9087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сбор телеметрии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DE894D-A39B-4CCD-9D02-48C322F7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86050"/>
            <a:ext cx="285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118BFA-95C1-4D80-A501-D43660E7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47900"/>
            <a:ext cx="1695450" cy="13144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917391-B9BF-4F21-ACF8-90C8AF68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466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161"/>
          </a:solidFill>
          <a:ln xmlns:a="http://schemas.openxmlformats.org/drawingml/2006/main" w="9525">
            <a:solidFill>
              <a:srgbClr val="FF516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3A4358-A7BE-480E-BB22-582F96A5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InfluxDB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D6F613-CEE5-4708-8FAA-9055E7ED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19087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история метрик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DC92D0-D2E8-46A8-ABB1-0165EAE9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71950"/>
            <a:ext cx="382905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102C34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FFCE8-4643-4B7D-9092-9949A025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8150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215"/>
          </a:bodyPr>
          <a:lstStyle xmlns:a="http://schemas.openxmlformats.org/drawingml/2006/main">
            <a:defPPr algn="ctr">
              <a:defRPr sz="17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Grafana + оперативная 2D-карта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87FBDC-8B77-4686-AFFD-DB4364D6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819650"/>
            <a:ext cx="3295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KPI · карта · тревоги · временные ряды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9D025C-209D-4B5D-A20E-2EE4CBCC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620000" y="3562350"/>
            <a:ext cx="1990725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D7C6"/>
            </a:solidFill>
            <a:prstDash val="dash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CB4F04-247A-4613-8EA0-543EBF8F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16363E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buNone/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make up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3DECC7-0FC7-457E-B182-6AECEC9F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476750"/>
            <a:ext cx="1447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16363E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buNone/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make smoke</a:t>
            </a:r>
          </a:p>
        </p:txBody>
      </p:sp>
    </p:spTree>
    <p:extLst>
      <p:ext uri="{BB962C8B-B14F-4D97-AF65-F5344CB8AC3E}">
        <p14:creationId xmlns:p14="http://schemas.microsoft.com/office/powerpoint/2010/main" val="869125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25488-43B9-4610-B4CC-7B8D34CE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DD0819-BE4D-4327-BE3E-F16ADE16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555703-39C6-4361-9A01-D19B9C53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A50A6-37B0-450D-B065-2C3E4B5A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Штатный режим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31735-3078-4DA9-807E-01FD7711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Диспетчер видит состояние всей шахты без перехода между системами.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298D1-25FC-417A-97B0-11BA621D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1087100" cy="4248150"/>
          </a:xfrm>
          <a:prstGeom xmlns:a="http://schemas.openxmlformats.org/drawingml/2006/main" prst="roundRect">
            <a:avLst>
              <a:gd name="adj" fmla="val 4036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DA645-B0BB-43FB-B93B-C67687AF5F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72b664fb64811"/>
          <a:srcRect xmlns:a="http://schemas.openxmlformats.org/drawingml/2006/main" l="0" t="18157" r="0" b="181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66750" y="1733550"/>
            <a:ext cx="10858500" cy="4019550"/>
          </a:xfrm>
          <a:prstGeom xmlns:a="http://schemas.openxmlformats.org/drawingml/2006/main" prst="roundRect">
            <a:avLst>
              <a:gd name="adj" fmla="val 284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8E471-5468-4F98-A652-B0F2282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9070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buNone/>
              <a:defRPr sz="975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071318"/>
                </a:solidFill>
                <a:latin typeface="Segoe UI"/>
                <a:ea typeface="Segoe UI"/>
                <a:cs typeface="Segoe UI"/>
              </a:rPr>
              <a:t>НОРМА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74B44-4167-4496-965C-6EC50893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904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Карта, KPI и рекомендации обновляются каждые 2 секунды.</a:t>
            </a:r>
          </a:p>
        </p:txBody>
      </p:sp>
    </p:spTree>
    <p:extLst>
      <p:ext uri="{BB962C8B-B14F-4D97-AF65-F5344CB8AC3E}">
        <p14:creationId xmlns:p14="http://schemas.microsoft.com/office/powerpoint/2010/main" val="436019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E15EE-D56D-4167-ADF7-7BCECC18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10BFDC-D8B9-4A04-95D7-0AE83BE1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3E77B-5A7C-437A-BD0A-938DA280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5FBF9-3B9F-4799-8EEB-F704DC03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What-if: пожар в главном штреке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612D0-2300-4A4C-8918-B7793A87D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Система показывает причину, распространение воздействия и затронутых людей.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FF27C-A93B-40B6-9375-B9393624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7715250" cy="44577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FF5161"/>
            </a:solidFill>
            <a:prstDash val="solid"/>
          </a:ln>
        </p:spPr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0EFE59-5FDB-438F-8C8B-F6BD85F918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a9794ee9647fd"/>
          <a:srcRect xmlns:a="http://schemas.openxmlformats.org/drawingml/2006/main" l="0" t="3887" r="0" b="3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66750" y="1714500"/>
            <a:ext cx="7486650" cy="4229100"/>
          </a:xfrm>
          <a:prstGeom xmlns:a="http://schemas.openxmlformats.org/drawingml/2006/main" prst="roundRect">
            <a:avLst>
              <a:gd name="adj" fmla="val 270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F18B0-C95C-467B-A67A-108C9A24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90700"/>
            <a:ext cx="1390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161"/>
          </a:solidFill>
          <a:ln xmlns:a="http://schemas.openxmlformats.org/drawingml/2006/main" w="9525">
            <a:solidFill>
              <a:srgbClr val="FF5161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buNone/>
              <a:defRPr sz="9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ОПАСНОСТЬ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CFAF6-EB2F-4115-B3A9-74AC442F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828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0BFD5-9FEF-4359-BF01-686BC588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7642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7131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144A42-5BE3-40ED-9C1E-0D7D1E91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097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Отказ главного вентилятора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8A408-82AB-4FD2-8742-3531A585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667750" y="2171700"/>
            <a:ext cx="9525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6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42E2FA-2FD1-48A9-956E-048EFEFE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81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9525">
            <a:solidFill>
              <a:srgbClr val="F3B63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7B384B-1243-4DF9-BE40-1D73D543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2892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7131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4CBD9-B3FA-4636-AF40-B243F1BE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622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Выброс метана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71FDD-CAB2-4D34-90B0-690484B4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667750" y="3124200"/>
            <a:ext cx="9525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64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E5FC27-D5D1-4E91-8464-3E6DDF17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733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161"/>
          </a:solidFill>
          <a:ln xmlns:a="http://schemas.openxmlformats.org/drawingml/2006/main" w="9525">
            <a:solidFill>
              <a:srgbClr val="FF516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4ABEE-89BD-4B9B-AE3A-79D5B756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78142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7131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504D88-F5E9-42DE-B17C-CBD171CF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147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Пожар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48C399-99D4-4025-AFD7-84D4AEE9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667750" y="4076700"/>
            <a:ext cx="9525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64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B27BC7-94F2-4615-9618-5332A000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86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FF"/>
          </a:solidFill>
          <a:ln xmlns:a="http://schemas.openxmlformats.org/drawingml/2006/main" w="9525">
            <a:solidFill>
              <a:srgbClr val="56B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E662CE-621B-4945-8B88-FC1CEE0C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3392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07131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15C757-854A-4C1A-90E7-C8F0EBC1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672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Перекрытие выработки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6D50FD-F1BC-428A-9F5E-A66FA314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19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Сброс возвращает нормальные показатели и состояния оборудования.</a:t>
            </a:r>
          </a:p>
        </p:txBody>
      </p:sp>
    </p:spTree>
    <p:extLst>
      <p:ext uri="{BB962C8B-B14F-4D97-AF65-F5344CB8AC3E}">
        <p14:creationId xmlns:p14="http://schemas.microsoft.com/office/powerpoint/2010/main" val="7490227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A90E82-F319-4BF6-B9AC-D1704E47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CF086-F2A4-4F88-B2F0-C93E865C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79F3B9-ED45-4398-AA87-87EE15E4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7A96D-4AE9-48A5-9848-DB6F9318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Объяснимая оценка риска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D12E16-EFCC-4041-A4F1-004D60D4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Пороговые правила прозрачны: диспетчер видит не только цвет, но и причину.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61B1E-328A-452A-BF01-9B748432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590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Метрика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FE12FB-4866-4306-858D-85876BFD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097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Внимание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FDF1D4-9B2F-44D4-8318-DCF37668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Опасность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0E398-CB1B-4311-A19B-E3D8B0F3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8097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Направление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78E082-4739-4A36-AC83-BBE4C01B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1083945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4ECA1E-E0CA-49A7-81AE-F917B598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Метан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859EFB-FFDE-4A59-9165-075BB87A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3241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1,0 %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8633C-59E5-417A-B574-FB5B1A40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241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5161"/>
                </a:solidFill>
                <a:latin typeface="Segoe UI"/>
                <a:ea typeface="Segoe UI"/>
                <a:cs typeface="Segoe UI"/>
              </a:rPr>
              <a:t>2,0 %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3C5F14-7B99-4A7B-A765-38FC7C1E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рост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9DF75A-4242-4406-AD6A-00A4B844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0350"/>
            <a:ext cx="1083945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2C34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FD56F5-5343-4F7A-B482-4E515D86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6D78-78D6-4DE8-BA0E-D443309C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9146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25 ppm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EE33B5-9E3F-4C91-A465-D1073799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146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5161"/>
                </a:solidFill>
                <a:latin typeface="Segoe UI"/>
                <a:ea typeface="Segoe UI"/>
                <a:cs typeface="Segoe UI"/>
              </a:rPr>
              <a:t>50 ppm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1219CA-72F7-4BB1-BEE0-5E47052D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1465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рост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996E85-29D0-4D5F-8B16-AF93A889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0900"/>
            <a:ext cx="1083945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4CB3E5-BF6A-4C3F-9650-26DB8FFB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Дым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E1B76-0032-4F46-A8D9-8CE5FB98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5052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0,2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486549-3A3F-42EA-BEC8-E07911E3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5161"/>
                </a:solidFill>
                <a:latin typeface="Segoe UI"/>
                <a:ea typeface="Segoe UI"/>
                <a:cs typeface="Segoe UI"/>
              </a:rPr>
              <a:t>0,5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1FD456-2D8C-45F1-B1B8-B7936B35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0520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рост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1EDDC3-FAA4-484B-A281-24D49377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81450"/>
            <a:ext cx="1083945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2C34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D06BB4-BCCC-42E9-B8E9-AB98D4EB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Температура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2EC8FF-C987-4789-BB5A-24393A4D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957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35 °C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EBF414-FDE5-4C59-BE5F-969FBEC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957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5161"/>
                </a:solidFill>
                <a:latin typeface="Segoe UI"/>
                <a:ea typeface="Segoe UI"/>
                <a:cs typeface="Segoe UI"/>
              </a:rPr>
              <a:t>50 °C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5046D7-9D12-481F-BFAB-A396F4E9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9575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рост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8BF5A2-448C-442A-A8DA-3BDD80C4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0"/>
            <a:ext cx="1083945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9D8311-473B-427E-BF38-0F9E24D6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Скорость воздуха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B649A7-72F7-471F-AC40-E5DF2663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863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0,8 м/с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0996E5-3969-4AB4-8DF4-AC56F70D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863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F5161"/>
                </a:solidFill>
                <a:latin typeface="Segoe UI"/>
                <a:ea typeface="Segoe UI"/>
                <a:cs typeface="Segoe UI"/>
              </a:rPr>
              <a:t>0,3 м/с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1D04BE-0782-47A7-A51B-16176613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снижение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E4EA7D-CEF6-487C-A717-88006244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895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Логика учитывает направленный граф шахты: воздействие распространяется по ходу воздушного потока.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BE2F8A-ABA3-4544-8952-EE6DC30D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24500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63E"/>
          </a:solidFill>
          <a:ln xmlns:a="http://schemas.openxmlformats.org/drawingml/2006/main" w="9525">
            <a:solidFill>
              <a:srgbClr val="16363E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buNone/>
              <a:defRPr sz="9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ДЕТЕРМИНИРОВАННО</a:t>
            </a:r>
          </a:p>
        </p:txBody>
      </p:sp>
    </p:spTree>
    <p:extLst>
      <p:ext uri="{BB962C8B-B14F-4D97-AF65-F5344CB8AC3E}">
        <p14:creationId xmlns:p14="http://schemas.microsoft.com/office/powerpoint/2010/main" val="8443556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AA9169-E507-4B07-BB56-3838A564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OPENEGIZ · КОНКУРСНЫЙ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A382D-F1E5-41EC-9EFA-7235162E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BF87BA-679A-40FB-8B57-48A4190E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DC157-8311-441B-B5E5-EC619473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Результат проверен на полном стенде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67281-79B2-4DEB-889F-78705316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10 октября 2026 · локальный запуск на ноутбуке с 8 ГБ оперативной памяти.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CC824-75B8-4288-8953-303DEFDC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24765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23DEC-03EF-4900-B45A-2DFA053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39/39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3DED5-B608-403E-806B-B6E0BA04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01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unit-тестов пройдено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B7CB91-0B77-43B9-A57C-C07D9529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66900"/>
            <a:ext cx="24765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0B14FF-693D-4323-BA84-CAED3758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56B6F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56B6FF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56B6FF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7B713-CAE7-4B63-A102-6FD90129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38450"/>
            <a:ext cx="201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двойников создано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3B28C-9122-4FB7-91EC-85FAFCAF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866900"/>
            <a:ext cx="24765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7CE2F-1636-40A2-B679-56AD4071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F3B63F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F3B63F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F3B63F"/>
                </a:solidFill>
                <a:latin typeface="Segoe UI"/>
                <a:ea typeface="Segoe UI"/>
                <a:cs typeface="Segoe UI"/>
              </a:rPr>
              <a:t>≈ 2 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217E4-ECED-45CE-8C14-F4B15503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38450"/>
            <a:ext cx="201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фактический период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E081D9-A56F-49DB-BB3C-6D6DF93D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28956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E56172-1184-4ACC-8EFF-4DFB10BE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438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FF5161"/>
                </a:solidFill>
                <a:latin typeface="Segoe UI"/>
                <a:ea typeface="Segoe UI"/>
                <a:cs typeface="Segoe UI"/>
              </a:defRPr>
            </a:pPr>
            <a:r>
              <a:rPr sz="3750" b="1">
                <a:solidFill>
                  <a:srgbClr val="FF5161"/>
                </a:solidFill>
                <a:latin typeface="Segoe UI"/>
                <a:ea typeface="Segoe UI"/>
                <a:cs typeface="Segoe UI"/>
              </a:rPr>
              <a:t>≤ 0,31 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F524A-531C-4719-86A6-DB8DF755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38450"/>
            <a:ext cx="2438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реакция API сценария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C1CFD0-34B3-4546-99BF-E715D581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05250"/>
            <a:ext cx="1083945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102C34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3BF281-4C95-4FF0-B267-60286C37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Проверено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EC978D-C9A6-43EA-9B74-A66AFFCF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make up  →  make smoke  →  сценарии  →  reset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29E097-CC62-413C-B2CD-6D9424B5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673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MQTT → Ditto → Telegraf → InfluxDB → Grafana работает сквозным потоком.</a:t>
            </a:r>
          </a:p>
        </p:txBody>
      </p:sp>
    </p:spTree>
    <p:extLst>
      <p:ext uri="{BB962C8B-B14F-4D97-AF65-F5344CB8AC3E}">
        <p14:creationId xmlns:p14="http://schemas.microsoft.com/office/powerpoint/2010/main" val="20513353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CC8E1-E5E9-450B-8B75-D1404FF2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ИТОГ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28ACD-E29B-4E0D-8DD6-4A1274B7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77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AE544-1BC1-4C84-A3DB-B702AF5F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" y="6400800"/>
            <a:ext cx="10496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44CEA-1A9E-4D2F-9CF9-57FA8528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7429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96000"/>
              </a:lnSpc>
              <a:buNone/>
              <a:defRPr sz="36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36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Безопасность становится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600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3600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наблюдаемой и объяснимой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5001F-CA4A-41AE-8A77-2267433B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666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Готовый цифровой двойник объединяет вентиляцию, прогноз, энергетику и маршруты эвакуации.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DEF893-652D-42BB-8842-8906EF2A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57250"/>
            <a:ext cx="3714750" cy="2609850"/>
          </a:xfrm>
          <a:prstGeom xmlns:a="http://schemas.openxmlformats.org/drawingml/2006/main" prst="roundRect">
            <a:avLst>
              <a:gd name="adj" fmla="val 6569"/>
            </a:avLst>
          </a:prstGeom>
          <a:solidFill xmlns:a="http://schemas.openxmlformats.org/drawingml/2006/main">
            <a:srgbClr val="102C34"/>
          </a:solidFill>
          <a:ln xmlns:a="http://schemas.openxmlformats.org/drawingml/2006/main" w="9525">
            <a:solidFill>
              <a:srgbClr val="2946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2B6A46-A90D-4C0F-815F-ABAB432D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143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7D7C6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7D7C6"/>
                </a:solidFill>
                <a:latin typeface="Segoe UI"/>
                <a:ea typeface="Segoe UI"/>
                <a:cs typeface="Segoe UI"/>
              </a:rPr>
              <a:t>Ключевые возможности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D3009-A6F8-437F-A0FA-BA2391F4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7049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BA72E-AFF6-4541-9205-47A52A81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573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Прогноз и советник по вентиляции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0AED4-D27D-4C39-A991-B29833C6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257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9525">
            <a:solidFill>
              <a:srgbClr val="F3B63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D5AD3-CF0F-4186-BB20-29BD1E4A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Энергетика вентиляторов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FA217-314E-43C9-9904-1ACBEC37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809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FF"/>
          </a:solidFill>
          <a:ln xmlns:a="http://schemas.openxmlformats.org/drawingml/2006/main" w="9525">
            <a:solidFill>
              <a:srgbClr val="56B6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511DB-2CAD-4BA8-B2E7-903D7867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622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Маршрут и анимация эвакуации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5E275E-9055-4065-A20F-8C2D8ACB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9550"/>
            <a:ext cx="10953750" cy="1581150"/>
          </a:xfrm>
          <a:prstGeom xmlns:a="http://schemas.openxmlformats.org/drawingml/2006/main" prst="roundRect">
            <a:avLst>
              <a:gd name="adj" fmla="val 10843"/>
            </a:avLst>
          </a:prstGeom>
          <a:solidFill xmlns:a="http://schemas.openxmlformats.org/drawingml/2006/main">
            <a:srgbClr val="0D2229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59D27F-3D38-41B4-9055-D774B3BB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5F7F8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5F7F8"/>
                </a:solidFill>
                <a:latin typeface="Segoe UI"/>
                <a:ea typeface="Segoe UI"/>
                <a:cs typeface="Segoe UI"/>
              </a:rPr>
              <a:t>Каспийский общественный университет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BBA1DB-9955-4E61-B566-9D2AE2CE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9EB3B9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9EB3B9"/>
                </a:solidFill>
                <a:latin typeface="Segoe UI"/>
                <a:ea typeface="Segoe UI"/>
                <a:cs typeface="Segoe UI"/>
              </a:rPr>
              <a:t>Левицкий Роман Владимирович  ·  Якушенков Артур Борисович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110E0F-9939-4C98-B0A8-D7DCEC53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57700"/>
            <a:ext cx="2667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7C6"/>
          </a:solidFill>
          <a:ln xmlns:a="http://schemas.openxmlformats.org/drawingml/2006/main" w="9525">
            <a:solidFill>
              <a:srgbClr val="27D7C6"/>
            </a:solidFill>
            <a:prstDash val="solid"/>
          </a:ln>
        </p:spPr>
        <p:txBody>
          <a:bodyPr xmlns:a="http://schemas.openxmlformats.org/drawingml/2006/main" lIns="28575" tIns="28575" rIns="28575" bIns="28575" anchor="ctr">
            <a:normAutofit fontScale="100000"/>
          </a:bodyPr>
          <a:lstStyle xmlns:a="http://schemas.openxmlformats.org/drawingml/2006/main">
            <a:defPPr algn="ctr">
              <a:defRPr sz="975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 algn="ctr">
              <a:buNone/>
              <a:defRPr sz="975" b="1">
                <a:solidFill>
                  <a:srgbClr val="071318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071318"/>
                </a:solidFill>
                <a:latin typeface="Segoe UI"/>
                <a:ea typeface="Segoe UI"/>
                <a:cs typeface="Segoe UI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7642853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2026-10-09T20:58:58.2390000Z</dcterms:created>
  <dcterms:modified xsi:type="dcterms:W3CDTF">2026-10-09T20:58:58.2390000Z</dcterms:modified>
</coreProperties>
</file>