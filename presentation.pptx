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9ff15f06f72428a" /><Relationship Type="http://schemas.openxmlformats.org/officeDocument/2006/relationships/extended-properties" Target="/docProps/app.xml" Id="Rd81de69b83f445f7" /><Relationship Type="http://schemas.openxmlformats.org/officeDocument/2006/relationships/officeDocument" Target="/ppt/presentation.xml" Id="Rd47bdbc8c6534ae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4e6dd95b3c54721"/>
  </p:sldMasterIdLst>
  <p:notesMasterIdLst>
    <p:notesMasterId xmlns:r="http://schemas.openxmlformats.org/officeDocument/2006/relationships" r:id="R7a2ee2f9720549d1"/>
  </p:notesMasterIdLst>
  <p:sldIdLst>
    <p:sldId xmlns:r="http://schemas.openxmlformats.org/officeDocument/2006/relationships" id="256" r:id="R8580b75fe8a54bf1"/>
    <p:sldId xmlns:r="http://schemas.openxmlformats.org/officeDocument/2006/relationships" id="257" r:id="Rc01e76db0a6e488b"/>
    <p:sldId xmlns:r="http://schemas.openxmlformats.org/officeDocument/2006/relationships" id="258" r:id="R2261f892b0494aad"/>
    <p:sldId xmlns:r="http://schemas.openxmlformats.org/officeDocument/2006/relationships" id="259" r:id="R1e29e2a41b8b4f01"/>
    <p:sldId xmlns:r="http://schemas.openxmlformats.org/officeDocument/2006/relationships" id="260" r:id="Rb986340a3d754626"/>
    <p:sldId xmlns:r="http://schemas.openxmlformats.org/officeDocument/2006/relationships" id="261" r:id="Rddb7ce351656410c"/>
    <p:sldId xmlns:r="http://schemas.openxmlformats.org/officeDocument/2006/relationships" id="262" r:id="Rc10d50b0d3054f7f"/>
    <p:sldId xmlns:r="http://schemas.openxmlformats.org/officeDocument/2006/relationships" id="263" r:id="Rcc7d6b279f74444d"/>
    <p:sldId xmlns:r="http://schemas.openxmlformats.org/officeDocument/2006/relationships" id="264" r:id="R570274c832cf429a"/>
    <p:sldId xmlns:r="http://schemas.openxmlformats.org/officeDocument/2006/relationships" id="265" r:id="R36805fd4bb154f0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44ffdc6c7b34b0d" /><Relationship Type="http://schemas.openxmlformats.org/officeDocument/2006/relationships/slideMaster" Target="/ppt/slideMasters/slideMaster1.xml" Id="Ra4e6dd95b3c54721" /><Relationship Type="http://schemas.openxmlformats.org/officeDocument/2006/relationships/notesMaster" Target="/ppt/notesMasters/notesMaster1.xml" Id="R7a2ee2f9720549d1" /><Relationship Type="http://schemas.openxmlformats.org/officeDocument/2006/relationships/presProps" Target="/ppt/presProps.xml" Id="Rb0a7e0fdacee4454" /><Relationship Type="http://schemas.openxmlformats.org/officeDocument/2006/relationships/tableStyles" Target="/ppt/tableStyles.xml" Id="R22d374dffcea4c30" /><Relationship Type="http://schemas.openxmlformats.org/officeDocument/2006/relationships/slide" Target="/ppt/slides/slide1.xml" Id="R8580b75fe8a54bf1" /><Relationship Type="http://schemas.openxmlformats.org/officeDocument/2006/relationships/slide" Target="/ppt/slides/slide2.xml" Id="Rc01e76db0a6e488b" /><Relationship Type="http://schemas.openxmlformats.org/officeDocument/2006/relationships/slide" Target="/ppt/slides/slide3.xml" Id="R2261f892b0494aad" /><Relationship Type="http://schemas.openxmlformats.org/officeDocument/2006/relationships/slide" Target="/ppt/slides/slide4.xml" Id="R1e29e2a41b8b4f01" /><Relationship Type="http://schemas.openxmlformats.org/officeDocument/2006/relationships/slide" Target="/ppt/slides/slide5.xml" Id="Rb986340a3d754626" /><Relationship Type="http://schemas.openxmlformats.org/officeDocument/2006/relationships/slide" Target="/ppt/slides/slide6.xml" Id="Rddb7ce351656410c" /><Relationship Type="http://schemas.openxmlformats.org/officeDocument/2006/relationships/slide" Target="/ppt/slides/slide7.xml" Id="Rc10d50b0d3054f7f" /><Relationship Type="http://schemas.openxmlformats.org/officeDocument/2006/relationships/slide" Target="/ppt/slides/slide8.xml" Id="Rcc7d6b279f74444d" /><Relationship Type="http://schemas.openxmlformats.org/officeDocument/2006/relationships/slide" Target="/ppt/slides/slide9.xml" Id="R570274c832cf429a" /><Relationship Type="http://schemas.openxmlformats.org/officeDocument/2006/relationships/slide" Target="/ppt/slides/slide10.xml" Id="R36805fd4bb154f0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753ce72681c405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9d988929c314184" /><Relationship Type="http://schemas.openxmlformats.org/officeDocument/2006/relationships/notesMaster" Target="/ppt/notesMasters/notesMaster1.xml" Id="Ra06745d73afb46d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23c69df49bb4560" /><Relationship Type="http://schemas.openxmlformats.org/officeDocument/2006/relationships/notesMaster" Target="/ppt/notesMasters/notesMaster1.xml" Id="R85b01e7365d9471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827b3df538c44ef" /><Relationship Type="http://schemas.openxmlformats.org/officeDocument/2006/relationships/notesMaster" Target="/ppt/notesMasters/notesMaster1.xml" Id="R2dd6252873b4415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4b801a661564a31" /><Relationship Type="http://schemas.openxmlformats.org/officeDocument/2006/relationships/notesMaster" Target="/ppt/notesMasters/notesMaster1.xml" Id="R88dccfee202d42f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4839a02f8934df8" /><Relationship Type="http://schemas.openxmlformats.org/officeDocument/2006/relationships/notesMaster" Target="/ppt/notesMasters/notesMaster1.xml" Id="Rdf28aa87c6294c0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c41c4d810eb44e4" /><Relationship Type="http://schemas.openxmlformats.org/officeDocument/2006/relationships/notesMaster" Target="/ppt/notesMasters/notesMaster1.xml" Id="Re1c3624efadb4c6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d681eb273264037" /><Relationship Type="http://schemas.openxmlformats.org/officeDocument/2006/relationships/notesMaster" Target="/ppt/notesMasters/notesMaster1.xml" Id="R123ef3b7bd744c7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a8f2dc427e04312" /><Relationship Type="http://schemas.openxmlformats.org/officeDocument/2006/relationships/notesMaster" Target="/ppt/notesMasters/notesMaster1.xml" Id="Rc26dab0ff6da4a8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e8d81d151d841ef" /><Relationship Type="http://schemas.openxmlformats.org/officeDocument/2006/relationships/notesMaster" Target="/ppt/notesMasters/notesMaster1.xml" Id="Reea23df5c926473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7249d5e06074aed" /><Relationship Type="http://schemas.openxmlformats.org/officeDocument/2006/relationships/notesMaster" Target="/ppt/notesMasters/notesMaster1.xml" Id="R8836bacdd8b740e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b9d469d0294de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175707b8f843c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c7383a44954a7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1bd30c9af6416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87361b81e34df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c34c76733f4dd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643F4F5-2123-4CCB-8B6A-4C4734CD17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69632F5-2D61-40EF-94CE-1296470B2F4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0E928D0-09E0-42CB-8EB6-CE10207C57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C7AC6E6-EC60-4BEF-90ED-D8499BBC1B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27907A2-8160-435F-B8D2-A242CC64629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A8C317A-409C-4019-B452-655B45476B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97EA115-EFB3-4078-BD11-B0CCB12AD47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6ABA48A-3042-4A81-AA78-9B03D6B6EA3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8BE3C20-4A99-4AFC-A42D-310225627A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EC8D7FE-50B4-479F-90DB-79F6A3B89DA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9f5fc7dde4a41c8" /><Relationship Type="http://schemas.openxmlformats.org/officeDocument/2006/relationships/slideLayout" Target="/ppt/slideLayouts/slideLayout1.xml" Id="R6e17471d7b7a4275" /><Relationship Type="http://schemas.openxmlformats.org/officeDocument/2006/relationships/slideLayout" Target="/ppt/slideLayouts/slideLayout2.xml" Id="R9963bfb960944978" /><Relationship Type="http://schemas.openxmlformats.org/officeDocument/2006/relationships/slideLayout" Target="/ppt/slideLayouts/slideLayout3.xml" Id="R657ef3055e6647db" /><Relationship Type="http://schemas.openxmlformats.org/officeDocument/2006/relationships/slideLayout" Target="/ppt/slideLayouts/slideLayout4.xml" Id="R5457a6b060a9486c" /><Relationship Type="http://schemas.openxmlformats.org/officeDocument/2006/relationships/slideLayout" Target="/ppt/slideLayouts/slideLayout5.xml" Id="R06606688b00b4546" /><Relationship Type="http://schemas.openxmlformats.org/officeDocument/2006/relationships/slideLayout" Target="/ppt/slideLayouts/slideLayout6.xml" Id="R17cb30f80ca847a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e17471d7b7a4275"/>
    <p:sldLayoutId xmlns:r="http://schemas.openxmlformats.org/officeDocument/2006/relationships" id="2147483650" r:id="R9963bfb960944978"/>
    <p:sldLayoutId xmlns:r="http://schemas.openxmlformats.org/officeDocument/2006/relationships" id="2147483651" r:id="R657ef3055e6647db"/>
    <p:sldLayoutId xmlns:r="http://schemas.openxmlformats.org/officeDocument/2006/relationships" id="2147483652" r:id="R5457a6b060a9486c"/>
    <p:sldLayoutId xmlns:r="http://schemas.openxmlformats.org/officeDocument/2006/relationships" id="2147483653" r:id="R06606688b00b4546"/>
    <p:sldLayoutId xmlns:r="http://schemas.openxmlformats.org/officeDocument/2006/relationships" id="2147483654" r:id="R17cb30f80ca847a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a4342ed29a4738" /><Relationship Type="http://schemas.openxmlformats.org/officeDocument/2006/relationships/notesSlide" Target="/ppt/notesSlides/notesSlide1.xml" Id="Rb2c3ef1c48ae49b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564707ff934110" /><Relationship Type="http://schemas.openxmlformats.org/officeDocument/2006/relationships/notesSlide" Target="/ppt/notesSlides/notesSlide2.xml" Id="R04c3040079d546f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38eb4a4fa74bdc" /><Relationship Type="http://schemas.openxmlformats.org/officeDocument/2006/relationships/notesSlide" Target="/ppt/notesSlides/notesSlide3.xml" Id="R10512ec1cd1f49a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8191da90be4458" /><Relationship Type="http://schemas.openxmlformats.org/officeDocument/2006/relationships/notesSlide" Target="/ppt/notesSlides/notesSlide4.xml" Id="Rdf291962aac8419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eac66282604a04" /><Relationship Type="http://schemas.openxmlformats.org/officeDocument/2006/relationships/notesSlide" Target="/ppt/notesSlides/notesSlide5.xml" Id="R69586097d1cd431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81db70ed694c14" /><Relationship Type="http://schemas.openxmlformats.org/officeDocument/2006/relationships/image" Target="/ppt/media/image.png" Id="Rcc7676d4cbea44a2" /><Relationship Type="http://schemas.openxmlformats.org/officeDocument/2006/relationships/notesSlide" Target="/ppt/notesSlides/notesSlide6.xml" Id="R3ed4a1e15b78403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0539d92f9847fe" /><Relationship Type="http://schemas.openxmlformats.org/officeDocument/2006/relationships/image" Target="/ppt/media/image2.png" Id="Rbfcbc1aba29f4dd7" /><Relationship Type="http://schemas.openxmlformats.org/officeDocument/2006/relationships/notesSlide" Target="/ppt/notesSlides/notesSlide7.xml" Id="Rfc5d620b59af42f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f6861fc74f4079" /><Relationship Type="http://schemas.openxmlformats.org/officeDocument/2006/relationships/notesSlide" Target="/ppt/notesSlides/notesSlide8.xml" Id="R1f16a272e33b4a3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712f13f2e444dc" /><Relationship Type="http://schemas.openxmlformats.org/officeDocument/2006/relationships/notesSlide" Target="/ppt/notesSlides/notesSlide9.xml" Id="Rc0c397ebcdb740b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84d32e3f134779" /><Relationship Type="http://schemas.openxmlformats.org/officeDocument/2006/relationships/notesSlide" Target="/ppt/notesSlides/notesSlide10.xml" Id="Re60b468c3891485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3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2F9EB3-6164-463C-8E08-3746A9432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975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975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975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975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975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975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975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975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975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27D7C6"/>
                </a:solidFill>
                <a:latin typeface="Segoe UI"/>
                <a:ea typeface="Segoe UI"/>
                <a:cs typeface="Segoe UI"/>
              </a:rPr>
              <a:t>OPENEGIZ · ЦИФРОВОЙ РУДНИК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E791E3-159B-42D5-8124-DDAA60DAF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6667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05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405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405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405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405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405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405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405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405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405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92000"/>
              </a:lnSpc>
              <a:buNone/>
              <a:defRPr sz="405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pPr>
            <a:r>
              <a:rPr sz="4050" b="1">
                <a:solidFill>
                  <a:srgbClr val="F5F7F8"/>
                </a:solidFill>
                <a:latin typeface="Segoe UI"/>
                <a:ea typeface="Segoe UI"/>
                <a:cs typeface="Segoe UI"/>
              </a:rPr>
              <a:t>Цифровой двойник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405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pPr>
            <a:r>
              <a:rPr sz="4050" b="1">
                <a:solidFill>
                  <a:srgbClr val="F5F7F8"/>
                </a:solidFill>
                <a:latin typeface="Segoe UI"/>
                <a:ea typeface="Segoe UI"/>
                <a:cs typeface="Segoe UI"/>
              </a:rPr>
              <a:t>безопасности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405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pPr>
            <a:r>
              <a:rPr sz="4050" b="1">
                <a:solidFill>
                  <a:srgbClr val="F5F7F8"/>
                </a:solidFill>
                <a:latin typeface="Segoe UI"/>
                <a:ea typeface="Segoe UI"/>
                <a:cs typeface="Segoe UI"/>
              </a:rPr>
              <a:t>подземной шахты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F669E6-6148-47D8-8D6C-F036D925C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9EB3B9"/>
                </a:solidFill>
                <a:latin typeface="Segoe UI"/>
                <a:ea typeface="Segoe UI"/>
                <a:cs typeface="Segoe UI"/>
              </a:rPr>
              <a:t>Вентиляция · телеметрия · риск · what-if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C7ECF6-6ED1-46E3-9C96-7563520FC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962900" y="1104900"/>
            <a:ext cx="9525" cy="396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29464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9DF178-0F67-42C3-8BF4-79BB9A8DD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962900" y="2686050"/>
            <a:ext cx="19431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29464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F4F413-D70E-4FE8-BD19-8E7329B3E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9906000" y="1866900"/>
            <a:ext cx="933450" cy="819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29464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143289-3C04-47BC-8584-2E5908829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906000" y="2686050"/>
            <a:ext cx="933450" cy="838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29464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86E770-BBD7-441A-BC1B-96A67C40F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906000" y="2686050"/>
            <a:ext cx="9525" cy="1885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29464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9C8362-B4EC-4527-88B5-C1E8086F8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336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D7C6"/>
          </a:solidFill>
          <a:ln xmlns:a="http://schemas.openxmlformats.org/drawingml/2006/main" w="9525">
            <a:solidFill>
              <a:srgbClr val="07131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F773A6-82D8-4865-BCB8-A61CC463C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5336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D7C6"/>
          </a:solidFill>
          <a:ln xmlns:a="http://schemas.openxmlformats.org/drawingml/2006/main" w="9525">
            <a:solidFill>
              <a:srgbClr val="07131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6FB2AE-A375-4093-B1AA-6D3C3F002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17145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B63F"/>
          </a:solidFill>
          <a:ln xmlns:a="http://schemas.openxmlformats.org/drawingml/2006/main" w="9525">
            <a:solidFill>
              <a:srgbClr val="07131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03E2D8-FAC9-4F1E-9223-B3EB78916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33718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6B6FF"/>
          </a:solidFill>
          <a:ln xmlns:a="http://schemas.openxmlformats.org/drawingml/2006/main" w="9525">
            <a:solidFill>
              <a:srgbClr val="07131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425E96-3119-4864-A259-37E1F5F58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4196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161"/>
          </a:solidFill>
          <a:ln xmlns:a="http://schemas.openxmlformats.org/drawingml/2006/main" w="9525">
            <a:solidFill>
              <a:srgbClr val="07131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04A0CC-B445-4947-BCCE-565E92FFE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286375"/>
            <a:ext cx="3714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363E"/>
          </a:solidFill>
          <a:ln xmlns:a="http://schemas.openxmlformats.org/drawingml/2006/main" w="9525">
            <a:solidFill>
              <a:srgbClr val="16363E"/>
            </a:solidFill>
            <a:prstDash val="solid"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975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975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975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975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975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975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975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975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975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buNone/>
              <a:defRPr sz="975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27D7C6"/>
                </a:solidFill>
                <a:latin typeface="Segoe UI"/>
                <a:ea typeface="Segoe UI"/>
                <a:cs typeface="Segoe UI"/>
              </a:rPr>
              <a:t>26 ЦИФРОВЫХ ДВОЙНИКОВ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8F335C-8BF3-42B9-B216-FDABD6C67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1970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35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35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35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35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35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35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35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35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35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F5F7F8"/>
                </a:solidFill>
                <a:latin typeface="Segoe UI"/>
                <a:ea typeface="Segoe UI"/>
                <a:cs typeface="Segoe UI"/>
              </a:rPr>
              <a:t>ARA Solution · Каспийский общественный университет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EA12F5-E44D-41B5-A623-4D133361F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0070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2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2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2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2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2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2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2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2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2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9EB3B9"/>
                </a:solidFill>
                <a:latin typeface="Segoe UI"/>
                <a:ea typeface="Segoe UI"/>
                <a:cs typeface="Segoe UI"/>
              </a:rPr>
              <a:t>Левицкий Роман Владимирович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9EB3B9"/>
                </a:solidFill>
                <a:latin typeface="Segoe UI"/>
                <a:ea typeface="Segoe UI"/>
                <a:cs typeface="Segoe UI"/>
              </a:rPr>
              <a:t>Якушенков Артур Борисович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563E88-18EC-407F-9455-16E7B67B6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82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82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82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82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82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82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82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82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82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82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82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pPr>
            <a:r>
              <a:rPr sz="825" b="0">
                <a:solidFill>
                  <a:srgbClr val="9EB3B9"/>
                </a:solidFill>
                <a:latin typeface="Segoe UI"/>
                <a:ea typeface="Segoe UI"/>
                <a:cs typeface="Segoe UI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7337220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3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B6C5778-42D5-4D00-895B-55FAD6FAB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900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900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900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900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900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900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900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900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900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27D7C6"/>
                </a:solidFill>
                <a:latin typeface="Segoe UI"/>
                <a:ea typeface="Segoe UI"/>
                <a:cs typeface="Segoe UI"/>
              </a:rPr>
              <a:t>OPENEGIZ · КОНКУРСНЫЙ ПРОЕКТ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44A0E3-36BE-4523-B72F-42364780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82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82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82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82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82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82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82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82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82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82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82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pPr>
            <a:r>
              <a:rPr sz="825" b="0">
                <a:solidFill>
                  <a:srgbClr val="9EB3B9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53082F-38F1-4762-8A7E-677C1186A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52450" y="6400800"/>
            <a:ext cx="104965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64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A656F8-2E29-4AA2-A692-47EB0588E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85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85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85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85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85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85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85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85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85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pPr>
            <a:r>
              <a:rPr sz="2850" b="1">
                <a:solidFill>
                  <a:srgbClr val="F5F7F8"/>
                </a:solidFill>
                <a:latin typeface="Segoe UI"/>
                <a:ea typeface="Segoe UI"/>
                <a:cs typeface="Segoe UI"/>
              </a:rPr>
              <a:t>Безопасность нужно видеть как систему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03A899-8E73-45C9-81DD-F7A4C6F40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430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35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35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35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35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35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35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35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35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35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9EB3B9"/>
                </a:solidFill>
                <a:latin typeface="Segoe UI"/>
                <a:ea typeface="Segoe UI"/>
                <a:cs typeface="Segoe UI"/>
              </a:rPr>
              <a:t>Один инцидент меняет воздух, людей, технику и маршрут действий одновременно.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B2B5AB-6429-4E98-9751-389671911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0250"/>
            <a:ext cx="1924050" cy="2000250"/>
          </a:xfrm>
          <a:prstGeom xmlns:a="http://schemas.openxmlformats.org/drawingml/2006/main" prst="roundRect">
            <a:avLst>
              <a:gd name="adj" fmla="val 8911"/>
            </a:avLst>
          </a:prstGeom>
          <a:solidFill xmlns:a="http://schemas.openxmlformats.org/drawingml/2006/main">
            <a:srgbClr val="0D2229"/>
          </a:solidFill>
          <a:ln xmlns:a="http://schemas.openxmlformats.org/drawingml/2006/main" w="9525">
            <a:solidFill>
              <a:srgbClr val="29464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8DCE5A-6CD2-4A97-92FD-638CB3609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B63F"/>
          </a:solidFill>
          <a:ln xmlns:a="http://schemas.openxmlformats.org/drawingml/2006/main" w="9525">
            <a:solidFill>
              <a:srgbClr val="F3B63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864EDE-8297-4BA8-BF3F-26544F157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24150"/>
            <a:ext cx="1466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1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1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1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1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1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1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1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1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1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F5F7F8"/>
                </a:solidFill>
                <a:latin typeface="Segoe UI"/>
                <a:ea typeface="Segoe UI"/>
                <a:cs typeface="Segoe UI"/>
              </a:rPr>
              <a:t>CH₄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059DAF-1F40-4C28-88D4-3F9342E53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19450"/>
            <a:ext cx="1466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20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20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20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20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20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20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20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20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20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9EB3B9"/>
                </a:solidFill>
                <a:latin typeface="Segoe UI"/>
                <a:ea typeface="Segoe UI"/>
                <a:cs typeface="Segoe UI"/>
              </a:rPr>
              <a:t>взрывоопасная среда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D20064-34C9-4B95-9F47-09135E5D9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00250"/>
            <a:ext cx="1924050" cy="2000250"/>
          </a:xfrm>
          <a:prstGeom xmlns:a="http://schemas.openxmlformats.org/drawingml/2006/main" prst="roundRect">
            <a:avLst>
              <a:gd name="adj" fmla="val 8911"/>
            </a:avLst>
          </a:prstGeom>
          <a:solidFill xmlns:a="http://schemas.openxmlformats.org/drawingml/2006/main">
            <a:srgbClr val="0D2229"/>
          </a:solidFill>
          <a:ln xmlns:a="http://schemas.openxmlformats.org/drawingml/2006/main" w="9525">
            <a:solidFill>
              <a:srgbClr val="29464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F09092-94BB-40A8-911C-E9BBF0CCB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2669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161"/>
          </a:solidFill>
          <a:ln xmlns:a="http://schemas.openxmlformats.org/drawingml/2006/main" w="9525">
            <a:solidFill>
              <a:srgbClr val="FF516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C38CEC-E929-4219-A9D3-D256C123D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724150"/>
            <a:ext cx="1466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1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1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1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1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1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1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1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1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1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F5F7F8"/>
                </a:solidFill>
                <a:latin typeface="Segoe UI"/>
                <a:ea typeface="Segoe UI"/>
                <a:cs typeface="Segoe UI"/>
              </a:rPr>
              <a:t>CO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AADB65-A545-4D0C-AAC2-9A07052B9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219450"/>
            <a:ext cx="1466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20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20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20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20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20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20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20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20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20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9EB3B9"/>
                </a:solidFill>
                <a:latin typeface="Segoe UI"/>
                <a:ea typeface="Segoe UI"/>
                <a:cs typeface="Segoe UI"/>
              </a:rPr>
              <a:t>продукты горения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122245-E788-46F8-976B-AA98C1C74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000250"/>
            <a:ext cx="1924050" cy="2000250"/>
          </a:xfrm>
          <a:prstGeom xmlns:a="http://schemas.openxmlformats.org/drawingml/2006/main" prst="roundRect">
            <a:avLst>
              <a:gd name="adj" fmla="val 8911"/>
            </a:avLst>
          </a:prstGeom>
          <a:solidFill xmlns:a="http://schemas.openxmlformats.org/drawingml/2006/main">
            <a:srgbClr val="0D2229"/>
          </a:solidFill>
          <a:ln xmlns:a="http://schemas.openxmlformats.org/drawingml/2006/main" w="9525">
            <a:solidFill>
              <a:srgbClr val="29464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B3F0A6-AD7F-4555-AAA1-D01836FB6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2669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043"/>
          </a:solidFill>
          <a:ln xmlns:a="http://schemas.openxmlformats.org/drawingml/2006/main" w="9525">
            <a:solidFill>
              <a:srgbClr val="FF704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252D64-D98B-4180-A606-936662F16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724150"/>
            <a:ext cx="1466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1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1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1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1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1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1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1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1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1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F5F7F8"/>
                </a:solidFill>
                <a:latin typeface="Segoe UI"/>
                <a:ea typeface="Segoe UI"/>
                <a:cs typeface="Segoe UI"/>
              </a:rPr>
              <a:t>ДЫМ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00AA55-0851-4B7E-9A1B-AA9AE75E6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219450"/>
            <a:ext cx="1466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20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20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20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20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20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20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20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20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20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9EB3B9"/>
                </a:solidFill>
                <a:latin typeface="Segoe UI"/>
                <a:ea typeface="Segoe UI"/>
                <a:cs typeface="Segoe UI"/>
              </a:rPr>
              <a:t>ранний признак пожара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9CE040-92EA-4B72-9190-A83BCDFA1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000250"/>
            <a:ext cx="1924050" cy="2000250"/>
          </a:xfrm>
          <a:prstGeom xmlns:a="http://schemas.openxmlformats.org/drawingml/2006/main" prst="roundRect">
            <a:avLst>
              <a:gd name="adj" fmla="val 8911"/>
            </a:avLst>
          </a:prstGeom>
          <a:solidFill xmlns:a="http://schemas.openxmlformats.org/drawingml/2006/main">
            <a:srgbClr val="0D2229"/>
          </a:solidFill>
          <a:ln xmlns:a="http://schemas.openxmlformats.org/drawingml/2006/main" w="9525">
            <a:solidFill>
              <a:srgbClr val="29464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EAC26F-17EB-4B9F-B102-0C2641500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2669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D7C6"/>
          </a:solidFill>
          <a:ln xmlns:a="http://schemas.openxmlformats.org/drawingml/2006/main" w="9525">
            <a:solidFill>
              <a:srgbClr val="27D7C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32F46A-3DB6-4C14-9F4C-1E3E7FE08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724150"/>
            <a:ext cx="1466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1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1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1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1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1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1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1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1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1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F5F7F8"/>
                </a:solidFill>
                <a:latin typeface="Segoe UI"/>
                <a:ea typeface="Segoe UI"/>
                <a:cs typeface="Segoe UI"/>
              </a:rPr>
              <a:t>ПОТОК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F772D1-BA4E-4A15-9473-FAD97F1AC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219450"/>
            <a:ext cx="1466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20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20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20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20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20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20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20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20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20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9EB3B9"/>
                </a:solidFill>
                <a:latin typeface="Segoe UI"/>
                <a:ea typeface="Segoe UI"/>
                <a:cs typeface="Segoe UI"/>
              </a:rPr>
              <a:t>работа вентиляции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E420A9-1352-483C-9808-7C6364B66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000250"/>
            <a:ext cx="1924050" cy="2000250"/>
          </a:xfrm>
          <a:prstGeom xmlns:a="http://schemas.openxmlformats.org/drawingml/2006/main" prst="roundRect">
            <a:avLst>
              <a:gd name="adj" fmla="val 8911"/>
            </a:avLst>
          </a:prstGeom>
          <a:solidFill xmlns:a="http://schemas.openxmlformats.org/drawingml/2006/main">
            <a:srgbClr val="0D2229"/>
          </a:solidFill>
          <a:ln xmlns:a="http://schemas.openxmlformats.org/drawingml/2006/main" w="9525">
            <a:solidFill>
              <a:srgbClr val="29464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DBD903-9DF9-4FE2-AC82-10C863DF0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2669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6B6FF"/>
          </a:solidFill>
          <a:ln xmlns:a="http://schemas.openxmlformats.org/drawingml/2006/main" w="9525">
            <a:solidFill>
              <a:srgbClr val="56B6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DB84DE-BC24-4796-9AA0-D75CC8790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724150"/>
            <a:ext cx="1466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1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1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1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1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1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1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1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1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1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F5F7F8"/>
                </a:solidFill>
                <a:latin typeface="Segoe UI"/>
                <a:ea typeface="Segoe UI"/>
                <a:cs typeface="Segoe UI"/>
              </a:rPr>
              <a:t>ЛЮДИ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50E367-AE15-43AB-9C7A-5B2B9441B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219450"/>
            <a:ext cx="1466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20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20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20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20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20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20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20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20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20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9EB3B9"/>
                </a:solidFill>
                <a:latin typeface="Segoe UI"/>
                <a:ea typeface="Segoe UI"/>
                <a:cs typeface="Segoe UI"/>
              </a:rPr>
              <a:t>зона воздействия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C16FC5-E447-4EA3-8807-1D252A939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148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125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125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125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125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125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125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125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125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125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27D7C6"/>
                </a:solidFill>
                <a:latin typeface="Segoe UI"/>
                <a:ea typeface="Segoe UI"/>
                <a:cs typeface="Segoe UI"/>
              </a:rPr>
              <a:t>Задача проекта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0A1E7D-09BA-43CB-892D-8741EC364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57750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25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25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25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25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25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25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25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25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25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F5F7F8"/>
                </a:solidFill>
                <a:latin typeface="Segoe UI"/>
                <a:ea typeface="Segoe UI"/>
                <a:cs typeface="Segoe UI"/>
              </a:rPr>
              <a:t>Связать модель шахты, поток телеметрии и объяснимую реакцию на аварии в одном локальном стенде.</a:t>
            </a:r>
          </a:p>
        </p:txBody>
      </p:sp>
    </p:spTree>
    <p:extLst>
      <p:ext uri="{BB962C8B-B14F-4D97-AF65-F5344CB8AC3E}">
        <p14:creationId xmlns:p14="http://schemas.microsoft.com/office/powerpoint/2010/main" val="19126343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3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1A1BE2-3FFE-480D-BC1F-86F07E1AD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900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900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900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900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900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900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900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900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900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27D7C6"/>
                </a:solidFill>
                <a:latin typeface="Segoe UI"/>
                <a:ea typeface="Segoe UI"/>
                <a:cs typeface="Segoe UI"/>
              </a:rPr>
              <a:t>OPENEGIZ · КОНКУРСНЫЙ ПРОЕКТ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6D0D1F-0946-403F-8360-6FB87F95D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82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82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82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82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82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82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82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82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82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82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82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pPr>
            <a:r>
              <a:rPr sz="825" b="0">
                <a:solidFill>
                  <a:srgbClr val="9EB3B9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C71E9C-AAAD-4E09-B59A-8881954D8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52450" y="6400800"/>
            <a:ext cx="104965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64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EE42BE-DB5B-484F-932C-539ED966B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85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85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85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85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85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85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85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85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85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pPr>
            <a:r>
              <a:rPr sz="2850" b="1">
                <a:solidFill>
                  <a:srgbClr val="F5F7F8"/>
                </a:solidFill>
                <a:latin typeface="Segoe UI"/>
                <a:ea typeface="Segoe UI"/>
                <a:cs typeface="Segoe UI"/>
              </a:rPr>
              <a:t>Что построено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EFE298-ED06-4D88-ACF1-8CAC57959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430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35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35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35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35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35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35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35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35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35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9EB3B9"/>
                </a:solidFill>
                <a:latin typeface="Segoe UI"/>
                <a:ea typeface="Segoe UI"/>
                <a:cs typeface="Segoe UI"/>
              </a:rPr>
              <a:t>Полный воспроизводимый контур цифрового двойника — от объектов до диспетчерского экрана.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696C69-8414-4485-948D-882746869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85950"/>
            <a:ext cx="2476500" cy="15430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D2229"/>
          </a:solidFill>
          <a:ln xmlns:a="http://schemas.openxmlformats.org/drawingml/2006/main" w="9525">
            <a:solidFill>
              <a:srgbClr val="29464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37CC33-FA6C-4D46-A176-5BDF43623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14550"/>
            <a:ext cx="2019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750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3750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3750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3750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3750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3750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3750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3750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3750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3750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750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pPr>
            <a:r>
              <a:rPr sz="3750" b="1">
                <a:solidFill>
                  <a:srgbClr val="27D7C6"/>
                </a:solidFill>
                <a:latin typeface="Segoe UI"/>
                <a:ea typeface="Segoe UI"/>
                <a:cs typeface="Segoe UI"/>
              </a:rPr>
              <a:t>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384C60-315E-4559-B1EB-291F7CA99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2019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2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2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2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2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2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2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2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2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2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9EB3B9"/>
                </a:solidFill>
                <a:latin typeface="Segoe UI"/>
                <a:ea typeface="Segoe UI"/>
                <a:cs typeface="Segoe UI"/>
              </a:rPr>
              <a:t>цифровых двойников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782C9C-0EB6-40AF-B6CB-131AC0A63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85950"/>
            <a:ext cx="2476500" cy="15430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D2229"/>
          </a:solidFill>
          <a:ln xmlns:a="http://schemas.openxmlformats.org/drawingml/2006/main" w="9525">
            <a:solidFill>
              <a:srgbClr val="29464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0E1DD3-8D34-4377-8FD8-62C2E5EFC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114550"/>
            <a:ext cx="2019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750" b="1">
                <a:solidFill>
                  <a:srgbClr val="56B6F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3750" b="1">
                <a:solidFill>
                  <a:srgbClr val="56B6F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3750" b="1">
                <a:solidFill>
                  <a:srgbClr val="56B6F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3750" b="1">
                <a:solidFill>
                  <a:srgbClr val="56B6F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3750" b="1">
                <a:solidFill>
                  <a:srgbClr val="56B6F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3750" b="1">
                <a:solidFill>
                  <a:srgbClr val="56B6F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3750" b="1">
                <a:solidFill>
                  <a:srgbClr val="56B6F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3750" b="1">
                <a:solidFill>
                  <a:srgbClr val="56B6F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3750" b="1">
                <a:solidFill>
                  <a:srgbClr val="56B6F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3750" b="1">
                <a:solidFill>
                  <a:srgbClr val="56B6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750" b="1">
                <a:solidFill>
                  <a:srgbClr val="56B6FF"/>
                </a:solidFill>
                <a:latin typeface="Segoe UI"/>
                <a:ea typeface="Segoe UI"/>
                <a:cs typeface="Segoe UI"/>
              </a:defRPr>
            </a:pPr>
            <a:r>
              <a:rPr sz="3750" b="1">
                <a:solidFill>
                  <a:srgbClr val="56B6FF"/>
                </a:solidFill>
                <a:latin typeface="Segoe UI"/>
                <a:ea typeface="Segoe UI"/>
                <a:cs typeface="Segoe UI"/>
              </a:rPr>
              <a:t>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AAB55E-A8BF-4486-A070-865F10699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857500"/>
            <a:ext cx="2019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2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2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2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2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2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2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2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2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2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9EB3B9"/>
                </a:solidFill>
                <a:latin typeface="Segoe UI"/>
                <a:ea typeface="Segoe UI"/>
                <a:cs typeface="Segoe UI"/>
              </a:rPr>
              <a:t>контролируемых зон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02E0C5-E0C8-4F3E-889D-8AA91B789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885950"/>
            <a:ext cx="2476500" cy="15430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D2229"/>
          </a:solidFill>
          <a:ln xmlns:a="http://schemas.openxmlformats.org/drawingml/2006/main" w="9525">
            <a:solidFill>
              <a:srgbClr val="29464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F2689B-2CB2-48DF-A73C-BCD21F4B3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114550"/>
            <a:ext cx="2019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750" b="1">
                <a:solidFill>
                  <a:srgbClr val="F3B63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3750" b="1">
                <a:solidFill>
                  <a:srgbClr val="F3B63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3750" b="1">
                <a:solidFill>
                  <a:srgbClr val="F3B63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3750" b="1">
                <a:solidFill>
                  <a:srgbClr val="F3B63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3750" b="1">
                <a:solidFill>
                  <a:srgbClr val="F3B63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3750" b="1">
                <a:solidFill>
                  <a:srgbClr val="F3B63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3750" b="1">
                <a:solidFill>
                  <a:srgbClr val="F3B63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3750" b="1">
                <a:solidFill>
                  <a:srgbClr val="F3B63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3750" b="1">
                <a:solidFill>
                  <a:srgbClr val="F3B63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3750" b="1">
                <a:solidFill>
                  <a:srgbClr val="F3B63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750" b="1">
                <a:solidFill>
                  <a:srgbClr val="F3B63F"/>
                </a:solidFill>
                <a:latin typeface="Segoe UI"/>
                <a:ea typeface="Segoe UI"/>
                <a:cs typeface="Segoe UI"/>
              </a:defRPr>
            </a:pPr>
            <a:r>
              <a:rPr sz="3750" b="1">
                <a:solidFill>
                  <a:srgbClr val="F3B63F"/>
                </a:solidFill>
                <a:latin typeface="Segoe UI"/>
                <a:ea typeface="Segoe UI"/>
                <a:cs typeface="Segoe UI"/>
              </a:rPr>
              <a:t>2 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DF6B84-E1C3-4E22-A3E8-D0DC63500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57500"/>
            <a:ext cx="2019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2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2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2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2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2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2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2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2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2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9EB3B9"/>
                </a:solidFill>
                <a:latin typeface="Segoe UI"/>
                <a:ea typeface="Segoe UI"/>
                <a:cs typeface="Segoe UI"/>
              </a:rPr>
              <a:t>период телеметрии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1501B0-6F47-4748-A946-FC6E9CBC4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85950"/>
            <a:ext cx="2895600" cy="15430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D2229"/>
          </a:solidFill>
          <a:ln xmlns:a="http://schemas.openxmlformats.org/drawingml/2006/main" w="9525">
            <a:solidFill>
              <a:srgbClr val="29464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3F249E-34AE-4929-B3C2-A9055A2B1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114550"/>
            <a:ext cx="2438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750" b="1">
                <a:solidFill>
                  <a:srgbClr val="FF5161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3750" b="1">
                <a:solidFill>
                  <a:srgbClr val="FF5161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3750" b="1">
                <a:solidFill>
                  <a:srgbClr val="FF5161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3750" b="1">
                <a:solidFill>
                  <a:srgbClr val="FF5161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3750" b="1">
                <a:solidFill>
                  <a:srgbClr val="FF5161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3750" b="1">
                <a:solidFill>
                  <a:srgbClr val="FF5161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3750" b="1">
                <a:solidFill>
                  <a:srgbClr val="FF5161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3750" b="1">
                <a:solidFill>
                  <a:srgbClr val="FF5161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3750" b="1">
                <a:solidFill>
                  <a:srgbClr val="FF5161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3750" b="1">
                <a:solidFill>
                  <a:srgbClr val="FF5161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750" b="1">
                <a:solidFill>
                  <a:srgbClr val="FF5161"/>
                </a:solidFill>
                <a:latin typeface="Segoe UI"/>
                <a:ea typeface="Segoe UI"/>
                <a:cs typeface="Segoe UI"/>
              </a:defRPr>
            </a:pPr>
            <a:r>
              <a:rPr sz="3750" b="1">
                <a:solidFill>
                  <a:srgbClr val="FF5161"/>
                </a:solidFill>
                <a:latin typeface="Segoe UI"/>
                <a:ea typeface="Segoe UI"/>
                <a:cs typeface="Segoe UI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272BD6-2EED-4CF8-B6C7-21414F1A5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857500"/>
            <a:ext cx="2438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2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2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2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2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2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2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2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2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2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9EB3B9"/>
                </a:solidFill>
                <a:latin typeface="Segoe UI"/>
                <a:ea typeface="Segoe UI"/>
                <a:cs typeface="Segoe UI"/>
              </a:rPr>
              <a:t>аварийных сценария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043D5A-6AE5-4A90-BF10-28D56DF82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0"/>
            <a:ext cx="10839450" cy="1790700"/>
          </a:xfrm>
          <a:prstGeom xmlns:a="http://schemas.openxmlformats.org/drawingml/2006/main" prst="roundRect">
            <a:avLst>
              <a:gd name="adj" fmla="val 9574"/>
            </a:avLst>
          </a:prstGeom>
          <a:solidFill xmlns:a="http://schemas.openxmlformats.org/drawingml/2006/main">
            <a:srgbClr val="102C34"/>
          </a:solidFill>
          <a:ln xmlns:a="http://schemas.openxmlformats.org/drawingml/2006/main" w="9525">
            <a:solidFill>
              <a:srgbClr val="29464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A6F416-590A-4A95-9EC3-F4D78B8D3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957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75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75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75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75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75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75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75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75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75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27D7C6"/>
                </a:solidFill>
                <a:latin typeface="Segoe UI"/>
                <a:ea typeface="Segoe UI"/>
                <a:cs typeface="Segoe UI"/>
              </a:rPr>
              <a:t>Один экран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92CC59-FDE3-430A-BBD7-D1EDA7EED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52950"/>
            <a:ext cx="962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F5F7F8"/>
                </a:solidFill>
                <a:latin typeface="Segoe UI"/>
                <a:ea typeface="Segoe UI"/>
                <a:cs typeface="Segoe UI"/>
              </a:rPr>
              <a:t>карта · KPI · причины риска · прогноз · энергетика · маршруты эвакуации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85F561-5875-4B4A-8A21-1AF512CC2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48250"/>
            <a:ext cx="962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2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2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2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2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2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2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2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2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2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9EB3B9"/>
                </a:solidFill>
                <a:latin typeface="Segoe UI"/>
                <a:ea typeface="Segoe UI"/>
                <a:cs typeface="Segoe UI"/>
              </a:rPr>
              <a:t>История метрик сохраняется в InfluxDB и отображается в Grafana.</a:t>
            </a:r>
          </a:p>
        </p:txBody>
      </p:sp>
    </p:spTree>
    <p:extLst>
      <p:ext uri="{BB962C8B-B14F-4D97-AF65-F5344CB8AC3E}">
        <p14:creationId xmlns:p14="http://schemas.microsoft.com/office/powerpoint/2010/main" val="4785690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3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CDFE839-891D-4747-92A6-F97CF5F92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900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900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900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900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900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900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900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900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900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27D7C6"/>
                </a:solidFill>
                <a:latin typeface="Segoe UI"/>
                <a:ea typeface="Segoe UI"/>
                <a:cs typeface="Segoe UI"/>
              </a:rPr>
              <a:t>OPENEGIZ · КОНКУРСНЫЙ ПРОЕКТ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895CC1-0CA7-444A-AFC4-DF01D47D9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82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82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82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82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82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82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82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82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82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82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82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pPr>
            <a:r>
              <a:rPr sz="825" b="0">
                <a:solidFill>
                  <a:srgbClr val="9EB3B9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AA1F88-F06F-4768-B1C0-74B9F55B0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52450" y="6400800"/>
            <a:ext cx="104965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64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AA2915-A323-42A0-AB33-844774B09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85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85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85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85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85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85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85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85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85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pPr>
            <a:r>
              <a:rPr sz="2850" b="1">
                <a:solidFill>
                  <a:srgbClr val="F5F7F8"/>
                </a:solidFill>
                <a:latin typeface="Segoe UI"/>
                <a:ea typeface="Segoe UI"/>
                <a:cs typeface="Segoe UI"/>
              </a:rPr>
              <a:t>Модель подземной шахты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6C4230-7A3F-42B3-8AF7-C781AA0EF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430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35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35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35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35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35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35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35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35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35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9EB3B9"/>
                </a:solidFill>
                <a:latin typeface="Segoe UI"/>
                <a:ea typeface="Segoe UI"/>
                <a:cs typeface="Segoe UI"/>
              </a:rPr>
              <a:t>Ориентированный граф задаёт зоны и направление приточной вентиляции.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0D7801-0E2A-4F87-8AFE-727FAE881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809750" y="3314700"/>
            <a:ext cx="2133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27D7C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55DDD8-50D9-44A3-A702-CED6A6710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286500" y="2209800"/>
            <a:ext cx="1600200" cy="1104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27D7C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EF5AB0-7179-459D-8680-2AAD8CAB0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86500" y="3314700"/>
            <a:ext cx="1600200" cy="1104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27D7C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85313A-70AC-4B72-BFC1-47077C47F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0" y="3771900"/>
            <a:ext cx="9525" cy="1162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27D7C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3EB70F-AF14-4589-A24E-8140B0122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17145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D2229"/>
          </a:solidFill>
          <a:ln xmlns:a="http://schemas.openxmlformats.org/drawingml/2006/main" w="9525">
            <a:solidFill>
              <a:srgbClr val="29464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A78F37-8CF4-4603-A81B-A92FFCA46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0670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6B6FF"/>
          </a:solidFill>
          <a:ln xmlns:a="http://schemas.openxmlformats.org/drawingml/2006/main" w="9525">
            <a:solidFill>
              <a:srgbClr val="56B6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DE1A7E-C626-4D3E-B875-7C2647109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28950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F5F7F8"/>
                </a:solidFill>
                <a:latin typeface="Segoe UI"/>
                <a:ea typeface="Segoe UI"/>
                <a:cs typeface="Segoe UI"/>
              </a:rPr>
              <a:t>Ствол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9D69A7-1983-4F96-BC0E-55A1E4103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81375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9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9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9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9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9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9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9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9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9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9EB3B9"/>
                </a:solidFill>
                <a:latin typeface="Segoe UI"/>
                <a:ea typeface="Segoe UI"/>
                <a:cs typeface="Segoe UI"/>
              </a:rPr>
              <a:t>shaft · датчик 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49B7E7-4536-45CB-94FB-8B9FA59F5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876550"/>
            <a:ext cx="295275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D2229"/>
          </a:solidFill>
          <a:ln xmlns:a="http://schemas.openxmlformats.org/drawingml/2006/main" w="9525">
            <a:solidFill>
              <a:srgbClr val="29464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55C4EB-C55B-4BFA-A64B-6A4E4CA03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0670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D7C6"/>
          </a:solidFill>
          <a:ln xmlns:a="http://schemas.openxmlformats.org/drawingml/2006/main" w="9525">
            <a:solidFill>
              <a:srgbClr val="27D7C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5252B3-A9AD-440A-B5EB-AB15D11A4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02895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F5F7F8"/>
                </a:solidFill>
                <a:latin typeface="Segoe UI"/>
                <a:ea typeface="Segoe UI"/>
                <a:cs typeface="Segoe UI"/>
              </a:rPr>
              <a:t>Главный штрек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E7ECCF-8373-4E47-935C-693377EEC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381375"/>
            <a:ext cx="260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9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9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9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9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9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9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9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9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9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9EB3B9"/>
                </a:solidFill>
                <a:latin typeface="Segoe UI"/>
                <a:ea typeface="Segoe UI"/>
                <a:cs typeface="Segoe UI"/>
              </a:rPr>
              <a:t>main_drift · датчики 02–03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4AF35D-AE6F-447F-B965-C10F3AC5F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695450"/>
            <a:ext cx="314325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D2229"/>
          </a:solidFill>
          <a:ln xmlns:a="http://schemas.openxmlformats.org/drawingml/2006/main" w="9525">
            <a:solidFill>
              <a:srgbClr val="29464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279D31-19D0-4BA4-B381-11F3093EA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18859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B63F"/>
          </a:solidFill>
          <a:ln xmlns:a="http://schemas.openxmlformats.org/drawingml/2006/main" w="9525">
            <a:solidFill>
              <a:srgbClr val="F3B63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F6062A-CD4B-4867-8EF6-DCE9289A8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847850"/>
            <a:ext cx="2552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F5F7F8"/>
                </a:solidFill>
                <a:latin typeface="Segoe UI"/>
                <a:ea typeface="Segoe UI"/>
                <a:cs typeface="Segoe UI"/>
              </a:rPr>
              <a:t>Добычный участок 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C623EF-8051-477B-ABDC-45CDB295C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200275"/>
            <a:ext cx="2800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9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9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9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9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9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9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9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9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9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9EB3B9"/>
                </a:solidFill>
                <a:latin typeface="Segoe UI"/>
                <a:ea typeface="Segoe UI"/>
                <a:cs typeface="Segoe UI"/>
              </a:rPr>
              <a:t>section_a · 3 работника · ПДМ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9C6283-D4C9-4724-906B-5F70459AF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00500"/>
            <a:ext cx="314325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D2229"/>
          </a:solidFill>
          <a:ln xmlns:a="http://schemas.openxmlformats.org/drawingml/2006/main" w="9525">
            <a:solidFill>
              <a:srgbClr val="29464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202AD2-4091-4ABA-9BDF-D2FAD8538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41910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6B6FF"/>
          </a:solidFill>
          <a:ln xmlns:a="http://schemas.openxmlformats.org/drawingml/2006/main" w="9525">
            <a:solidFill>
              <a:srgbClr val="56B6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EDF812-A2AE-40C4-8247-85436724C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152900"/>
            <a:ext cx="2552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F5F7F8"/>
                </a:solidFill>
                <a:latin typeface="Segoe UI"/>
                <a:ea typeface="Segoe UI"/>
                <a:cs typeface="Segoe UI"/>
              </a:rPr>
              <a:t>Добычный участок B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D76160-92A0-4B66-A3FB-7B2606DE1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505325"/>
            <a:ext cx="2800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9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9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9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9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9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9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9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9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9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9EB3B9"/>
                </a:solidFill>
                <a:latin typeface="Segoe UI"/>
                <a:ea typeface="Segoe UI"/>
                <a:cs typeface="Segoe UI"/>
              </a:rPr>
              <a:t>section_b · 3 работника · транспорт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A05CB1-7861-4AD7-8898-F820B2127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933950"/>
            <a:ext cx="295275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D2229"/>
          </a:solidFill>
          <a:ln xmlns:a="http://schemas.openxmlformats.org/drawingml/2006/main" w="9525">
            <a:solidFill>
              <a:srgbClr val="29464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2085E7-2612-4453-9E3E-ECC8CC374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51244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161"/>
          </a:solidFill>
          <a:ln xmlns:a="http://schemas.openxmlformats.org/drawingml/2006/main" w="9525">
            <a:solidFill>
              <a:srgbClr val="FF516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11AC22C-EF98-405F-9E9B-D9949F71F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508635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F5F7F8"/>
                </a:solidFill>
                <a:latin typeface="Segoe UI"/>
                <a:ea typeface="Segoe UI"/>
                <a:cs typeface="Segoe UI"/>
              </a:rPr>
              <a:t>Эвакуационная камера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2563608-0811-494F-8CF7-2438733C2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438775"/>
            <a:ext cx="260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9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9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9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9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9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9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9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9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9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9EB3B9"/>
                </a:solidFill>
                <a:latin typeface="Segoe UI"/>
                <a:ea typeface="Segoe UI"/>
                <a:cs typeface="Segoe UI"/>
              </a:rPr>
              <a:t>refuge_chamber · работник 10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CA41241-77F7-44AA-A08E-87F5F30AB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238125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02C34"/>
          </a:solidFill>
          <a:ln xmlns:a="http://schemas.openxmlformats.org/drawingml/2006/main" w="9525">
            <a:solidFill>
              <a:srgbClr val="29464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822FF82-D207-4317-BE3E-CBA7EA31D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244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200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200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200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200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200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200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200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200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200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27D7C6"/>
                </a:solidFill>
                <a:latin typeface="Segoe UI"/>
                <a:ea typeface="Segoe UI"/>
                <a:cs typeface="Segoe UI"/>
              </a:rPr>
              <a:t>Инвентарь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412376B-9F80-4F93-A57D-6B488E984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2925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270"/>
          </a:bodyPr>
          <a:lstStyle xmlns:a="http://schemas.openxmlformats.org/drawingml/2006/main">
            <a:defPPr algn="l">
              <a:defRPr sz="105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05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05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05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05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05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05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05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05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05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9EB3B9"/>
                </a:solidFill>
                <a:latin typeface="Segoe UI"/>
                <a:ea typeface="Segoe UI"/>
                <a:cs typeface="Segoe UI"/>
              </a:rPr>
              <a:t>3 вентилятора · 5 датчиков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9EB3B9"/>
                </a:solidFill>
                <a:latin typeface="Segoe UI"/>
                <a:ea typeface="Segoe UI"/>
                <a:cs typeface="Segoe UI"/>
              </a:rPr>
              <a:t>10 работников · 2 единицы техники</a:t>
            </a:r>
          </a:p>
        </p:txBody>
      </p:sp>
    </p:spTree>
    <p:extLst>
      <p:ext uri="{BB962C8B-B14F-4D97-AF65-F5344CB8AC3E}">
        <p14:creationId xmlns:p14="http://schemas.microsoft.com/office/powerpoint/2010/main" val="7215699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3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37ABCBE-E852-4358-B9FC-2201A825F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900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900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900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900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900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900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900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900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900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27D7C6"/>
                </a:solidFill>
                <a:latin typeface="Segoe UI"/>
                <a:ea typeface="Segoe UI"/>
                <a:cs typeface="Segoe UI"/>
              </a:rPr>
              <a:t>OPENEGIZ · КОНКУРСНЫЙ ПРОЕКТ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E37B91-CB5E-41EA-AB72-E287717D7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82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82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82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82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82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82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82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82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82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82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82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pPr>
            <a:r>
              <a:rPr sz="825" b="0">
                <a:solidFill>
                  <a:srgbClr val="9EB3B9"/>
                </a:solidFill>
                <a:latin typeface="Segoe UI"/>
                <a:ea typeface="Segoe UI"/>
                <a:cs typeface="Segoe UI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7A97FC-5F0E-48E3-9F3B-57CCE4F98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52450" y="6400800"/>
            <a:ext cx="104965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64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8376D5-2C5B-4653-B97D-5C969C66C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85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85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85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85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85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85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85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85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85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pPr>
            <a:r>
              <a:rPr sz="2850" b="1">
                <a:solidFill>
                  <a:srgbClr val="F5F7F8"/>
                </a:solidFill>
                <a:latin typeface="Segoe UI"/>
                <a:ea typeface="Segoe UI"/>
                <a:cs typeface="Segoe UI"/>
              </a:rPr>
              <a:t>Архитектура: единый поток данных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137467-F322-47CC-BB5E-B338C361B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430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35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35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35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35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35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35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35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35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35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9EB3B9"/>
                </a:solidFill>
                <a:latin typeface="Segoe UI"/>
                <a:ea typeface="Segoe UI"/>
                <a:cs typeface="Segoe UI"/>
              </a:rPr>
              <a:t>Все компоненты запускаются Docker Compose и проверяются одной командой.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0B3B86-C1FA-4B96-AE4E-7B8D91925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695450" cy="13144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0D2229"/>
          </a:solidFill>
          <a:ln xmlns:a="http://schemas.openxmlformats.org/drawingml/2006/main" w="9525">
            <a:solidFill>
              <a:srgbClr val="29464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174ADA-153B-4120-87CD-A699C5E3A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4669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D7C6"/>
          </a:solidFill>
          <a:ln xmlns:a="http://schemas.openxmlformats.org/drawingml/2006/main" w="9525">
            <a:solidFill>
              <a:srgbClr val="27D7C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9965CA-3582-46BF-86B6-BFC103B66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0035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976"/>
          </a:bodyPr>
          <a:lstStyle xmlns:a="http://schemas.openxmlformats.org/drawingml/2006/main">
            <a:defPPr algn="ctr">
              <a:defRPr sz="1425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425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425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425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425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425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425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425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425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425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5F7F8"/>
                </a:solidFill>
                <a:latin typeface="Segoe UI"/>
                <a:ea typeface="Segoe UI"/>
                <a:cs typeface="Segoe UI"/>
              </a:rPr>
              <a:t>Python-модель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D7600D-C3B8-4662-B9D0-29C1B2BA6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90875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9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9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9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9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9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9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9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9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9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9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9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9EB3B9"/>
                </a:solidFill>
                <a:latin typeface="Segoe UI"/>
                <a:ea typeface="Segoe UI"/>
                <a:cs typeface="Segoe UI"/>
              </a:rPr>
              <a:t>состояния и сценарии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05758C-8597-4E71-95C4-D30E20CED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686050"/>
            <a:ext cx="285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363E"/>
          </a:solidFill>
          <a:ln xmlns:a="http://schemas.openxmlformats.org/drawingml/2006/main" w="9525">
            <a:solidFill>
              <a:srgbClr val="27D7C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3E3093-28F5-49DB-A5FC-7FA8AD0BC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247900"/>
            <a:ext cx="1695450" cy="13144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0D2229"/>
          </a:solidFill>
          <a:ln xmlns:a="http://schemas.openxmlformats.org/drawingml/2006/main" w="9525">
            <a:solidFill>
              <a:srgbClr val="29464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3DAF6C-9182-4A2E-A18B-7102EA003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4669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6B6FF"/>
          </a:solidFill>
          <a:ln xmlns:a="http://schemas.openxmlformats.org/drawingml/2006/main" w="9525">
            <a:solidFill>
              <a:srgbClr val="56B6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523A74-E30E-4A48-B189-C5DDFAA32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80035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425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425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425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425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425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425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425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425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425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5F7F8"/>
                </a:solidFill>
                <a:latin typeface="Segoe UI"/>
                <a:ea typeface="Segoe UI"/>
                <a:cs typeface="Segoe UI"/>
              </a:rPr>
              <a:t>MQTT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95C479-89C0-4468-B28D-EF9ED88DB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190875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9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9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9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9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9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9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9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9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9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9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9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9EB3B9"/>
                </a:solidFill>
                <a:latin typeface="Segoe UI"/>
                <a:ea typeface="Segoe UI"/>
                <a:cs typeface="Segoe UI"/>
              </a:rPr>
              <a:t>публикация событий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9E8801-5BC9-4A1D-902A-1D371CDC7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686050"/>
            <a:ext cx="285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363E"/>
          </a:solidFill>
          <a:ln xmlns:a="http://schemas.openxmlformats.org/drawingml/2006/main" w="9525">
            <a:solidFill>
              <a:srgbClr val="27D7C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E3C666-D05F-4A14-A563-AE8344E9A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47900"/>
            <a:ext cx="1695450" cy="13144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0D2229"/>
          </a:solidFill>
          <a:ln xmlns:a="http://schemas.openxmlformats.org/drawingml/2006/main" w="9525">
            <a:solidFill>
              <a:srgbClr val="29464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D69AB7-54EF-447D-8542-1E0AD82A1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24669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B63F"/>
          </a:solidFill>
          <a:ln xmlns:a="http://schemas.openxmlformats.org/drawingml/2006/main" w="9525">
            <a:solidFill>
              <a:srgbClr val="F3B63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97F6D8-654D-420D-B853-C46B7189F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80035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425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425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425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425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425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425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425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425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425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5F7F8"/>
                </a:solidFill>
                <a:latin typeface="Segoe UI"/>
                <a:ea typeface="Segoe UI"/>
                <a:cs typeface="Segoe UI"/>
              </a:rPr>
              <a:t>Eclipse Ditto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04AF59-6E2B-46ED-B3CC-2B1621646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190875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9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9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9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9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9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9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9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9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9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9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9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9EB3B9"/>
                </a:solidFill>
                <a:latin typeface="Segoe UI"/>
                <a:ea typeface="Segoe UI"/>
                <a:cs typeface="Segoe UI"/>
              </a:rPr>
              <a:t>26 digital twins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D4EF0C-55A5-40F7-9509-EAA4E4ED6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86050"/>
            <a:ext cx="285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363E"/>
          </a:solidFill>
          <a:ln xmlns:a="http://schemas.openxmlformats.org/drawingml/2006/main" w="9525">
            <a:solidFill>
              <a:srgbClr val="27D7C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D70CBF-64E3-457F-AE47-3B5999EAC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247900"/>
            <a:ext cx="1695450" cy="13144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0D2229"/>
          </a:solidFill>
          <a:ln xmlns:a="http://schemas.openxmlformats.org/drawingml/2006/main" w="9525">
            <a:solidFill>
              <a:srgbClr val="29464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1E8BDF-DB7A-4162-BB5D-9F6C28353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4669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043"/>
          </a:solidFill>
          <a:ln xmlns:a="http://schemas.openxmlformats.org/drawingml/2006/main" w="9525">
            <a:solidFill>
              <a:srgbClr val="FF704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04074F-78B1-4EB2-AB2F-C1348FB1B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80035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425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425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425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425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425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425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425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425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425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5F7F8"/>
                </a:solidFill>
                <a:latin typeface="Segoe UI"/>
                <a:ea typeface="Segoe UI"/>
                <a:cs typeface="Segoe UI"/>
              </a:rPr>
              <a:t>Telegraf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7CCAC1-C685-4582-B8F6-D58306309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190875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9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9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9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9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9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9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9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9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9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9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9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9EB3B9"/>
                </a:solidFill>
                <a:latin typeface="Segoe UI"/>
                <a:ea typeface="Segoe UI"/>
                <a:cs typeface="Segoe UI"/>
              </a:rPr>
              <a:t>сбор телеметрии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DE894D-A39B-4CCD-9D02-48C322F73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86050"/>
            <a:ext cx="285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363E"/>
          </a:solidFill>
          <a:ln xmlns:a="http://schemas.openxmlformats.org/drawingml/2006/main" w="9525">
            <a:solidFill>
              <a:srgbClr val="27D7C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118BFA-95C1-4D80-A501-D43660E79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247900"/>
            <a:ext cx="1695450" cy="13144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0D2229"/>
          </a:solidFill>
          <a:ln xmlns:a="http://schemas.openxmlformats.org/drawingml/2006/main" w="9525">
            <a:solidFill>
              <a:srgbClr val="29464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917391-B9BF-4F21-ACF8-90C8AF684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4669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161"/>
          </a:solidFill>
          <a:ln xmlns:a="http://schemas.openxmlformats.org/drawingml/2006/main" w="9525">
            <a:solidFill>
              <a:srgbClr val="FF516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3A4358-A7BE-480E-BB22-582F96A5F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0035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425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425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425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425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425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425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425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425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425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5F7F8"/>
                </a:solidFill>
                <a:latin typeface="Segoe UI"/>
                <a:ea typeface="Segoe UI"/>
                <a:cs typeface="Segoe UI"/>
              </a:rPr>
              <a:t>InfluxDB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0D6F613-CEE5-4708-8FAA-9055E7ED9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90875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9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9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9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9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9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9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9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9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9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9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9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9EB3B9"/>
                </a:solidFill>
                <a:latin typeface="Segoe UI"/>
                <a:ea typeface="Segoe UI"/>
                <a:cs typeface="Segoe UI"/>
              </a:rPr>
              <a:t>история метрик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DDC92D0-D2E8-46A8-ABB1-0165EAE92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171950"/>
            <a:ext cx="38290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102C34"/>
          </a:solidFill>
          <a:ln xmlns:a="http://schemas.openxmlformats.org/drawingml/2006/main" w="9525">
            <a:solidFill>
              <a:srgbClr val="27D7C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C2FFCE8-4643-4B7D-9092-9949A025F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381500"/>
            <a:ext cx="3295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215"/>
          </a:bodyPr>
          <a:lstStyle xmlns:a="http://schemas.openxmlformats.org/drawingml/2006/main">
            <a:defPPr algn="ctr">
              <a:defRPr sz="1725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725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725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725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725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725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725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725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725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725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F5F7F8"/>
                </a:solidFill>
                <a:latin typeface="Segoe UI"/>
                <a:ea typeface="Segoe UI"/>
                <a:cs typeface="Segoe UI"/>
              </a:rPr>
              <a:t>Grafana + оперативная 2D-карта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487FBDC-8B77-4686-AFFD-DB4364D63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819650"/>
            <a:ext cx="3295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12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12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12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12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12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12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12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12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12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9EB3B9"/>
                </a:solidFill>
                <a:latin typeface="Segoe UI"/>
                <a:ea typeface="Segoe UI"/>
                <a:cs typeface="Segoe UI"/>
              </a:rPr>
              <a:t>KPI · карта · тревоги · временные ряды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F9D025C-209D-4B5D-A20E-2EE4CBCC9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7620000" y="3562350"/>
            <a:ext cx="1990725" cy="609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7D7C6"/>
            </a:solidFill>
            <a:prstDash val="dash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FCB4F04-247A-4613-8EA0-543EBF8FB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76750"/>
            <a:ext cx="1181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363E"/>
          </a:solidFill>
          <a:ln xmlns:a="http://schemas.openxmlformats.org/drawingml/2006/main" w="9525">
            <a:solidFill>
              <a:srgbClr val="16363E"/>
            </a:solidFill>
            <a:prstDash val="solid"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975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975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975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975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975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975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975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975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975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buNone/>
              <a:defRPr sz="975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27D7C6"/>
                </a:solidFill>
                <a:latin typeface="Segoe UI"/>
                <a:ea typeface="Segoe UI"/>
                <a:cs typeface="Segoe UI"/>
              </a:rPr>
              <a:t>make up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53DECC7-0FC7-457E-B182-6AECEC9F5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476750"/>
            <a:ext cx="14478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363E"/>
          </a:solidFill>
          <a:ln xmlns:a="http://schemas.openxmlformats.org/drawingml/2006/main" w="9525">
            <a:solidFill>
              <a:srgbClr val="16363E"/>
            </a:solidFill>
            <a:prstDash val="solid"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975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975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975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975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975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975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975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975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975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buNone/>
              <a:defRPr sz="975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27D7C6"/>
                </a:solidFill>
                <a:latin typeface="Segoe UI"/>
                <a:ea typeface="Segoe UI"/>
                <a:cs typeface="Segoe UI"/>
              </a:rPr>
              <a:t>make smoke</a:t>
            </a:r>
          </a:p>
        </p:txBody>
      </p:sp>
    </p:spTree>
    <p:extLst>
      <p:ext uri="{BB962C8B-B14F-4D97-AF65-F5344CB8AC3E}">
        <p14:creationId xmlns:p14="http://schemas.microsoft.com/office/powerpoint/2010/main" val="86912512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3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F25488-43B9-4610-B4CC-7B8D34CEE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900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900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900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900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900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900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900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900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900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27D7C6"/>
                </a:solidFill>
                <a:latin typeface="Segoe UI"/>
                <a:ea typeface="Segoe UI"/>
                <a:cs typeface="Segoe UI"/>
              </a:rPr>
              <a:t>OPENEGIZ · КОНКУРСНЫЙ ПРОЕКТ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DD0819-BE4D-4327-BE3E-F16ADE16B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82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82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82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82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82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82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82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82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82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82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82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pPr>
            <a:r>
              <a:rPr sz="825" b="0">
                <a:solidFill>
                  <a:srgbClr val="9EB3B9"/>
                </a:solidFill>
                <a:latin typeface="Segoe UI"/>
                <a:ea typeface="Segoe UI"/>
                <a:cs typeface="Segoe UI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555703-39C6-4361-9A01-D19B9C53C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52450" y="6400800"/>
            <a:ext cx="104965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64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CA50A6-37B0-450D-B065-2C3E4B5AB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85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85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85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85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85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85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85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85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85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pPr>
            <a:r>
              <a:rPr sz="2850" b="1">
                <a:solidFill>
                  <a:srgbClr val="F5F7F8"/>
                </a:solidFill>
                <a:latin typeface="Segoe UI"/>
                <a:ea typeface="Segoe UI"/>
                <a:cs typeface="Segoe UI"/>
              </a:rPr>
              <a:t>Штатный режим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E31735-3078-4DA9-807E-01FD77112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430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35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35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35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35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35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35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35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35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35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9EB3B9"/>
                </a:solidFill>
                <a:latin typeface="Segoe UI"/>
                <a:ea typeface="Segoe UI"/>
                <a:cs typeface="Segoe UI"/>
              </a:rPr>
              <a:t>Диспетчер видит состояние всей шахты без перехода между системами.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5298D1-25FC-417A-97B0-11BA621D9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11087100" cy="4248150"/>
          </a:xfrm>
          <a:prstGeom xmlns:a="http://schemas.openxmlformats.org/drawingml/2006/main" prst="roundRect">
            <a:avLst>
              <a:gd name="adj" fmla="val 4036"/>
            </a:avLst>
          </a:prstGeom>
          <a:solidFill xmlns:a="http://schemas.openxmlformats.org/drawingml/2006/main">
            <a:srgbClr val="0D2229"/>
          </a:solidFill>
          <a:ln xmlns:a="http://schemas.openxmlformats.org/drawingml/2006/main" w="9525">
            <a:solidFill>
              <a:srgbClr val="29464E"/>
            </a:solidFill>
            <a:prstDash val="solid"/>
          </a:ln>
        </p:spPr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3FDB9F-CE47-43BA-AA35-1BE51982118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7676d4cbea44a2"/>
          <a:srcRect xmlns:a="http://schemas.openxmlformats.org/drawingml/2006/main" l="0" t="18157" r="0" b="1815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66750" y="1733550"/>
            <a:ext cx="10858500" cy="4019550"/>
          </a:xfrm>
          <a:prstGeom xmlns:a="http://schemas.openxmlformats.org/drawingml/2006/main" prst="roundRect">
            <a:avLst>
              <a:gd name="adj" fmla="val 2844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C8E471-5468-4F98-A652-B0F228209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790700"/>
            <a:ext cx="1428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D7C6"/>
          </a:solidFill>
          <a:ln xmlns:a="http://schemas.openxmlformats.org/drawingml/2006/main" w="9525">
            <a:solidFill>
              <a:srgbClr val="27D7C6"/>
            </a:solidFill>
            <a:prstDash val="solid"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071318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975" b="1">
                <a:solidFill>
                  <a:srgbClr val="071318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975" b="1">
                <a:solidFill>
                  <a:srgbClr val="071318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975" b="1">
                <a:solidFill>
                  <a:srgbClr val="071318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975" b="1">
                <a:solidFill>
                  <a:srgbClr val="071318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975" b="1">
                <a:solidFill>
                  <a:srgbClr val="071318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975" b="1">
                <a:solidFill>
                  <a:srgbClr val="071318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975" b="1">
                <a:solidFill>
                  <a:srgbClr val="071318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975" b="1">
                <a:solidFill>
                  <a:srgbClr val="071318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975" b="1">
                <a:solidFill>
                  <a:srgbClr val="07131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buNone/>
              <a:defRPr sz="975" b="1">
                <a:solidFill>
                  <a:srgbClr val="071318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071318"/>
                </a:solidFill>
                <a:latin typeface="Segoe UI"/>
                <a:ea typeface="Segoe UI"/>
                <a:cs typeface="Segoe UI"/>
              </a:rPr>
              <a:t>НОРМА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774B44-4167-4496-965C-6EC508935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904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12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12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12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12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12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12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12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12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12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9EB3B9"/>
                </a:solidFill>
                <a:latin typeface="Segoe UI"/>
                <a:ea typeface="Segoe UI"/>
                <a:cs typeface="Segoe UI"/>
              </a:rPr>
              <a:t>Карта, KPI и рекомендации обновляются каждые 2 секунды.</a:t>
            </a:r>
          </a:p>
        </p:txBody>
      </p:sp>
    </p:spTree>
    <p:extLst>
      <p:ext uri="{BB962C8B-B14F-4D97-AF65-F5344CB8AC3E}">
        <p14:creationId xmlns:p14="http://schemas.microsoft.com/office/powerpoint/2010/main" val="4360197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3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8E15EE-D56D-4167-ADF7-7BCECC18F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900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900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900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900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900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900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900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900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900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27D7C6"/>
                </a:solidFill>
                <a:latin typeface="Segoe UI"/>
                <a:ea typeface="Segoe UI"/>
                <a:cs typeface="Segoe UI"/>
              </a:rPr>
              <a:t>OPENEGIZ · КОНКУРСНЫЙ ПРОЕКТ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10BFDC-D8B9-4A04-95D7-0AE83BE1F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82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82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82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82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82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82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82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82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82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82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82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pPr>
            <a:r>
              <a:rPr sz="825" b="0">
                <a:solidFill>
                  <a:srgbClr val="9EB3B9"/>
                </a:solidFill>
                <a:latin typeface="Segoe UI"/>
                <a:ea typeface="Segoe UI"/>
                <a:cs typeface="Segoe UI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33E77B-5A7C-437A-BD0A-938DA280F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52450" y="6400800"/>
            <a:ext cx="104965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64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B5FBF9-3B9F-4799-8EEB-F704DC031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85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85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85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85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85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85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85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85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85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pPr>
            <a:r>
              <a:rPr sz="2850" b="1">
                <a:solidFill>
                  <a:srgbClr val="F5F7F8"/>
                </a:solidFill>
                <a:latin typeface="Segoe UI"/>
                <a:ea typeface="Segoe UI"/>
                <a:cs typeface="Segoe UI"/>
              </a:rPr>
              <a:t>What-if: пожар в главном штреке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6612D0-2300-4A4C-8918-B7793A87D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430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35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35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35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35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35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35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35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35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35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9EB3B9"/>
                </a:solidFill>
                <a:latin typeface="Segoe UI"/>
                <a:ea typeface="Segoe UI"/>
                <a:cs typeface="Segoe UI"/>
              </a:rPr>
              <a:t>Система показывает причину, распространение воздействия и затронутых людей.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3FF27C-A93B-40B6-9375-B9393624F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7715250" cy="44577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0D2229"/>
          </a:solidFill>
          <a:ln xmlns:a="http://schemas.openxmlformats.org/drawingml/2006/main" w="9525">
            <a:solidFill>
              <a:srgbClr val="FF5161"/>
            </a:solidFill>
            <a:prstDash val="solid"/>
          </a:ln>
        </p:spPr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F0EE96-9697-4D5A-BB3A-804C64842FE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cbc1aba29f4dd7"/>
          <a:srcRect xmlns:a="http://schemas.openxmlformats.org/drawingml/2006/main" l="0" t="3887" r="0" b="38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66750" y="1714500"/>
            <a:ext cx="7486650" cy="4229100"/>
          </a:xfrm>
          <a:prstGeom xmlns:a="http://schemas.openxmlformats.org/drawingml/2006/main" prst="roundRect">
            <a:avLst>
              <a:gd name="adj" fmla="val 270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CF18B0-C95C-467B-A67A-108C9A24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90700"/>
            <a:ext cx="13906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5161"/>
          </a:solidFill>
          <a:ln xmlns:a="http://schemas.openxmlformats.org/drawingml/2006/main" w="9525">
            <a:solidFill>
              <a:srgbClr val="FF5161"/>
            </a:solidFill>
            <a:prstDash val="solid"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975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975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975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975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975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975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975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975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975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buNone/>
              <a:defRPr sz="975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F5F7F8"/>
                </a:solidFill>
                <a:latin typeface="Segoe UI"/>
                <a:ea typeface="Segoe UI"/>
                <a:cs typeface="Segoe UI"/>
              </a:rPr>
              <a:t>ОПАСНОСТЬ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9CFAF6-EB2F-4115-B3A9-74AC442F6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8288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D7C6"/>
          </a:solidFill>
          <a:ln xmlns:a="http://schemas.openxmlformats.org/drawingml/2006/main" w="9525">
            <a:solidFill>
              <a:srgbClr val="27D7C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40BFD5-9FEF-4359-BF01-686BC5880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876425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00" b="1">
                <a:solidFill>
                  <a:srgbClr val="071318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900" b="1">
                <a:solidFill>
                  <a:srgbClr val="071318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900" b="1">
                <a:solidFill>
                  <a:srgbClr val="071318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900" b="1">
                <a:solidFill>
                  <a:srgbClr val="071318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900" b="1">
                <a:solidFill>
                  <a:srgbClr val="071318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900" b="1">
                <a:solidFill>
                  <a:srgbClr val="071318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900" b="1">
                <a:solidFill>
                  <a:srgbClr val="071318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900" b="1">
                <a:solidFill>
                  <a:srgbClr val="071318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900" b="1">
                <a:solidFill>
                  <a:srgbClr val="071318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900" b="1">
                <a:solidFill>
                  <a:srgbClr val="07131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071318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071318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144A42-5BE3-40ED-9C1E-0D7D1E91A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80975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275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275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275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275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275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275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275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275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275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F5F7F8"/>
                </a:solidFill>
                <a:latin typeface="Segoe UI"/>
                <a:ea typeface="Segoe UI"/>
                <a:cs typeface="Segoe UI"/>
              </a:rPr>
              <a:t>Отказ главного вентилятора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E8A408-82AB-4FD2-8742-3531A5851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667750" y="2171700"/>
            <a:ext cx="9525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9464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42E2FA-2FD1-48A9-956E-048EFEFE4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7813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B63F"/>
          </a:solidFill>
          <a:ln xmlns:a="http://schemas.openxmlformats.org/drawingml/2006/main" w="9525">
            <a:solidFill>
              <a:srgbClr val="F3B63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7B384B-1243-4DF9-BE40-1D73D5438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28925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00" b="1">
                <a:solidFill>
                  <a:srgbClr val="071318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900" b="1">
                <a:solidFill>
                  <a:srgbClr val="071318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900" b="1">
                <a:solidFill>
                  <a:srgbClr val="071318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900" b="1">
                <a:solidFill>
                  <a:srgbClr val="071318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900" b="1">
                <a:solidFill>
                  <a:srgbClr val="071318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900" b="1">
                <a:solidFill>
                  <a:srgbClr val="071318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900" b="1">
                <a:solidFill>
                  <a:srgbClr val="071318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900" b="1">
                <a:solidFill>
                  <a:srgbClr val="071318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900" b="1">
                <a:solidFill>
                  <a:srgbClr val="071318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900" b="1">
                <a:solidFill>
                  <a:srgbClr val="07131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071318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071318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D4CBD9-B3FA-4636-AF40-B243F1BE3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76225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275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275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275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275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275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275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275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275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275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F5F7F8"/>
                </a:solidFill>
                <a:latin typeface="Segoe UI"/>
                <a:ea typeface="Segoe UI"/>
                <a:cs typeface="Segoe UI"/>
              </a:rPr>
              <a:t>Выброс метана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471FDD-CAB2-4D34-90B0-690484B4D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667750" y="3124200"/>
            <a:ext cx="9525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9464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E5FC27-D5D1-4E91-8464-3E6DDF177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7338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161"/>
          </a:solidFill>
          <a:ln xmlns:a="http://schemas.openxmlformats.org/drawingml/2006/main" w="9525">
            <a:solidFill>
              <a:srgbClr val="FF516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C4ABEE-89BD-4B9B-AE3A-79D5B756B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781425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00" b="1">
                <a:solidFill>
                  <a:srgbClr val="071318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900" b="1">
                <a:solidFill>
                  <a:srgbClr val="071318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900" b="1">
                <a:solidFill>
                  <a:srgbClr val="071318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900" b="1">
                <a:solidFill>
                  <a:srgbClr val="071318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900" b="1">
                <a:solidFill>
                  <a:srgbClr val="071318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900" b="1">
                <a:solidFill>
                  <a:srgbClr val="071318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900" b="1">
                <a:solidFill>
                  <a:srgbClr val="071318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900" b="1">
                <a:solidFill>
                  <a:srgbClr val="071318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900" b="1">
                <a:solidFill>
                  <a:srgbClr val="071318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900" b="1">
                <a:solidFill>
                  <a:srgbClr val="07131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071318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071318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504D88-F5E9-42DE-B17C-CBD171CFB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71475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275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275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275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275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275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275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275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275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275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F5F7F8"/>
                </a:solidFill>
                <a:latin typeface="Segoe UI"/>
                <a:ea typeface="Segoe UI"/>
                <a:cs typeface="Segoe UI"/>
              </a:rPr>
              <a:t>Пожар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48C399-99D4-4025-AFD7-84D4AEE96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667750" y="4076700"/>
            <a:ext cx="9525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9464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B27BC7-94F2-4615-9618-5332A0009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6863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6B6FF"/>
          </a:solidFill>
          <a:ln xmlns:a="http://schemas.openxmlformats.org/drawingml/2006/main" w="9525">
            <a:solidFill>
              <a:srgbClr val="56B6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E662CE-621B-4945-8B88-FC1CEE0CE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733925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00" b="1">
                <a:solidFill>
                  <a:srgbClr val="071318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900" b="1">
                <a:solidFill>
                  <a:srgbClr val="071318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900" b="1">
                <a:solidFill>
                  <a:srgbClr val="071318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900" b="1">
                <a:solidFill>
                  <a:srgbClr val="071318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900" b="1">
                <a:solidFill>
                  <a:srgbClr val="071318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900" b="1">
                <a:solidFill>
                  <a:srgbClr val="071318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900" b="1">
                <a:solidFill>
                  <a:srgbClr val="071318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900" b="1">
                <a:solidFill>
                  <a:srgbClr val="071318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900" b="1">
                <a:solidFill>
                  <a:srgbClr val="071318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900" b="1">
                <a:solidFill>
                  <a:srgbClr val="07131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071318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071318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15C757-854A-4C1A-90E7-C8F0EBC1C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66725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275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275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275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275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275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275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275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275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275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F5F7F8"/>
                </a:solidFill>
                <a:latin typeface="Segoe UI"/>
                <a:ea typeface="Segoe UI"/>
                <a:cs typeface="Segoe UI"/>
              </a:rPr>
              <a:t>Перекрытие выработки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6D50FD-F1BC-428A-9F5E-A66FA3144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6197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05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05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05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05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05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05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05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05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05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9EB3B9"/>
                </a:solidFill>
                <a:latin typeface="Segoe UI"/>
                <a:ea typeface="Segoe UI"/>
                <a:cs typeface="Segoe UI"/>
              </a:rPr>
              <a:t>Сброс возвращает нормальные показатели и состояния оборудования.</a:t>
            </a:r>
          </a:p>
        </p:txBody>
      </p:sp>
    </p:spTree>
    <p:extLst>
      <p:ext uri="{BB962C8B-B14F-4D97-AF65-F5344CB8AC3E}">
        <p14:creationId xmlns:p14="http://schemas.microsoft.com/office/powerpoint/2010/main" val="74902277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3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AA90E82-F319-4BF6-B9AC-D1704E478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900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900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900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900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900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900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900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900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900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27D7C6"/>
                </a:solidFill>
                <a:latin typeface="Segoe UI"/>
                <a:ea typeface="Segoe UI"/>
                <a:cs typeface="Segoe UI"/>
              </a:rPr>
              <a:t>OPENEGIZ · КОНКУРСНЫЙ ПРОЕКТ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3CF086-F2A4-4F88-B2F0-C93E865C9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82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82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82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82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82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82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82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82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82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82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82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pPr>
            <a:r>
              <a:rPr sz="825" b="0">
                <a:solidFill>
                  <a:srgbClr val="9EB3B9"/>
                </a:solidFill>
                <a:latin typeface="Segoe UI"/>
                <a:ea typeface="Segoe UI"/>
                <a:cs typeface="Segoe UI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79F3B9-ED45-4398-AA87-87EE15E47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52450" y="6400800"/>
            <a:ext cx="104965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64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F7A96D-4AE9-48A5-9848-DB6F9318F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85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85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85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85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85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85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85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85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85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pPr>
            <a:r>
              <a:rPr sz="2850" b="1">
                <a:solidFill>
                  <a:srgbClr val="F5F7F8"/>
                </a:solidFill>
                <a:latin typeface="Segoe UI"/>
                <a:ea typeface="Segoe UI"/>
                <a:cs typeface="Segoe UI"/>
              </a:rPr>
              <a:t>Объяснимая оценка риска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D12E16-EFCC-4041-A4F1-004D60D4A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430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35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35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35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35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35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35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35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35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35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9EB3B9"/>
                </a:solidFill>
                <a:latin typeface="Segoe UI"/>
                <a:ea typeface="Segoe UI"/>
                <a:cs typeface="Segoe UI"/>
              </a:rPr>
              <a:t>Пороговые правила прозрачны: диспетчер видит не только цвет, но и причину.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561B1E-328A-452A-BF01-9B748432E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2590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125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125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125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125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125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125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125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125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125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27D7C6"/>
                </a:solidFill>
                <a:latin typeface="Segoe UI"/>
                <a:ea typeface="Segoe UI"/>
                <a:cs typeface="Segoe UI"/>
              </a:rPr>
              <a:t>Метрика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FE12FB-4866-4306-858D-85876BFDF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809750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125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125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125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125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125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125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125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125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125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27D7C6"/>
                </a:solidFill>
                <a:latin typeface="Segoe UI"/>
                <a:ea typeface="Segoe UI"/>
                <a:cs typeface="Segoe UI"/>
              </a:rPr>
              <a:t>Внимание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FDF1D4-9B2F-44D4-8318-DCF376681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09750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125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125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125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125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125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125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125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125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125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27D7C6"/>
                </a:solidFill>
                <a:latin typeface="Segoe UI"/>
                <a:ea typeface="Segoe UI"/>
                <a:cs typeface="Segoe UI"/>
              </a:rPr>
              <a:t>Опасность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60E398-CB1B-4311-A19B-E3D8B0F37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80975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125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125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125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125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125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125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125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125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125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27D7C6"/>
                </a:solidFill>
                <a:latin typeface="Segoe UI"/>
                <a:ea typeface="Segoe UI"/>
                <a:cs typeface="Segoe UI"/>
              </a:rPr>
              <a:t>Направление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78E082-4739-4A36-AC83-BBE4C01B6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09800"/>
            <a:ext cx="10839450" cy="476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D2229"/>
          </a:solidFill>
          <a:ln xmlns:a="http://schemas.openxmlformats.org/drawingml/2006/main" w="9525">
            <a:solidFill>
              <a:srgbClr val="29464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4ECA1E-E0CA-49A7-81AE-F917B598A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24100"/>
            <a:ext cx="2590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2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2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2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2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2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2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2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2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2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F5F7F8"/>
                </a:solidFill>
                <a:latin typeface="Segoe UI"/>
                <a:ea typeface="Segoe UI"/>
                <a:cs typeface="Segoe UI"/>
              </a:rPr>
              <a:t>Метан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859EFB-FFDE-4A59-9165-075BB87AC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32410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2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2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2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2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2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2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2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2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2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F5F7F8"/>
                </a:solidFill>
                <a:latin typeface="Segoe UI"/>
                <a:ea typeface="Segoe UI"/>
                <a:cs typeface="Segoe UI"/>
              </a:rPr>
              <a:t>1,0 %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A8633C-59E5-417A-B574-FB5B1A400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2410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FF5161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200" b="0">
                <a:solidFill>
                  <a:srgbClr val="FF5161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200" b="0">
                <a:solidFill>
                  <a:srgbClr val="FF5161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200" b="0">
                <a:solidFill>
                  <a:srgbClr val="FF5161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200" b="0">
                <a:solidFill>
                  <a:srgbClr val="FF5161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200" b="0">
                <a:solidFill>
                  <a:srgbClr val="FF5161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200" b="0">
                <a:solidFill>
                  <a:srgbClr val="FF5161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200" b="0">
                <a:solidFill>
                  <a:srgbClr val="FF5161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200" b="0">
                <a:solidFill>
                  <a:srgbClr val="FF5161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200" b="0">
                <a:solidFill>
                  <a:srgbClr val="FF5161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5161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FF5161"/>
                </a:solidFill>
                <a:latin typeface="Segoe UI"/>
                <a:ea typeface="Segoe UI"/>
                <a:cs typeface="Segoe UI"/>
              </a:rPr>
              <a:t>2,0 %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3C5F14-7B99-4A7B-A765-38FC7C1E9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324100"/>
            <a:ext cx="278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2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2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2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2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2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2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2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2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2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F5F7F8"/>
                </a:solidFill>
                <a:latin typeface="Segoe UI"/>
                <a:ea typeface="Segoe UI"/>
                <a:cs typeface="Segoe UI"/>
              </a:rPr>
              <a:t>рост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9DF75A-4242-4406-AD6A-00A4B8440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00350"/>
            <a:ext cx="10839450" cy="476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02C34"/>
          </a:solidFill>
          <a:ln xmlns:a="http://schemas.openxmlformats.org/drawingml/2006/main" w="9525">
            <a:solidFill>
              <a:srgbClr val="29464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FD56F5-5343-4F7A-B482-4E515D86C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14650"/>
            <a:ext cx="2590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2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2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2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2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2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2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2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2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2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F5F7F8"/>
                </a:solidFill>
                <a:latin typeface="Segoe UI"/>
                <a:ea typeface="Segoe UI"/>
                <a:cs typeface="Segoe UI"/>
              </a:rPr>
              <a:t>CO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926D78-78D6-4DE8-BA0E-D443309C9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91465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2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2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2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2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2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2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2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2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2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F5F7F8"/>
                </a:solidFill>
                <a:latin typeface="Segoe UI"/>
                <a:ea typeface="Segoe UI"/>
                <a:cs typeface="Segoe UI"/>
              </a:rPr>
              <a:t>25 ppm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EE33B5-9E3F-4C91-A465-D10737992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91465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FF5161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200" b="0">
                <a:solidFill>
                  <a:srgbClr val="FF5161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200" b="0">
                <a:solidFill>
                  <a:srgbClr val="FF5161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200" b="0">
                <a:solidFill>
                  <a:srgbClr val="FF5161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200" b="0">
                <a:solidFill>
                  <a:srgbClr val="FF5161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200" b="0">
                <a:solidFill>
                  <a:srgbClr val="FF5161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200" b="0">
                <a:solidFill>
                  <a:srgbClr val="FF5161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200" b="0">
                <a:solidFill>
                  <a:srgbClr val="FF5161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200" b="0">
                <a:solidFill>
                  <a:srgbClr val="FF5161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200" b="0">
                <a:solidFill>
                  <a:srgbClr val="FF5161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5161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FF5161"/>
                </a:solidFill>
                <a:latin typeface="Segoe UI"/>
                <a:ea typeface="Segoe UI"/>
                <a:cs typeface="Segoe UI"/>
              </a:rPr>
              <a:t>50 ppm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1219CA-72F7-4BB1-BEE0-5E47052D6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914650"/>
            <a:ext cx="278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2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2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2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2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2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2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2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2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2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F5F7F8"/>
                </a:solidFill>
                <a:latin typeface="Segoe UI"/>
                <a:ea typeface="Segoe UI"/>
                <a:cs typeface="Segoe UI"/>
              </a:rPr>
              <a:t>рост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996E85-29D0-4D5F-8B16-AF93A889C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90900"/>
            <a:ext cx="10839450" cy="476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D2229"/>
          </a:solidFill>
          <a:ln xmlns:a="http://schemas.openxmlformats.org/drawingml/2006/main" w="9525">
            <a:solidFill>
              <a:srgbClr val="29464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4CB3E5-BF6A-4C3F-9650-26DB8FFB4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05200"/>
            <a:ext cx="2590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2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2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2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2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2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2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2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2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2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F5F7F8"/>
                </a:solidFill>
                <a:latin typeface="Segoe UI"/>
                <a:ea typeface="Segoe UI"/>
                <a:cs typeface="Segoe UI"/>
              </a:rPr>
              <a:t>Дым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BE1B76-0032-4F46-A8D9-8CE5FB985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50520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2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2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2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2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2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2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2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2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2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F5F7F8"/>
                </a:solidFill>
                <a:latin typeface="Segoe UI"/>
                <a:ea typeface="Segoe UI"/>
                <a:cs typeface="Segoe UI"/>
              </a:rPr>
              <a:t>0,2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486549-3A3F-42EA-BEC8-E07911E35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50520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FF5161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200" b="0">
                <a:solidFill>
                  <a:srgbClr val="FF5161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200" b="0">
                <a:solidFill>
                  <a:srgbClr val="FF5161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200" b="0">
                <a:solidFill>
                  <a:srgbClr val="FF5161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200" b="0">
                <a:solidFill>
                  <a:srgbClr val="FF5161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200" b="0">
                <a:solidFill>
                  <a:srgbClr val="FF5161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200" b="0">
                <a:solidFill>
                  <a:srgbClr val="FF5161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200" b="0">
                <a:solidFill>
                  <a:srgbClr val="FF5161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200" b="0">
                <a:solidFill>
                  <a:srgbClr val="FF5161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200" b="0">
                <a:solidFill>
                  <a:srgbClr val="FF5161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5161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FF5161"/>
                </a:solidFill>
                <a:latin typeface="Segoe UI"/>
                <a:ea typeface="Segoe UI"/>
                <a:cs typeface="Segoe UI"/>
              </a:rPr>
              <a:t>0,5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1FD456-2D8C-45F1-B1B8-B7936B35B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505200"/>
            <a:ext cx="278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2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2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2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2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2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2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2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2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2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F5F7F8"/>
                </a:solidFill>
                <a:latin typeface="Segoe UI"/>
                <a:ea typeface="Segoe UI"/>
                <a:cs typeface="Segoe UI"/>
              </a:rPr>
              <a:t>рост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1EDDC3-FAA4-484B-A281-24D49377C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81450"/>
            <a:ext cx="10839450" cy="476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02C34"/>
          </a:solidFill>
          <a:ln xmlns:a="http://schemas.openxmlformats.org/drawingml/2006/main" w="9525">
            <a:solidFill>
              <a:srgbClr val="29464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D06BB4-BCCC-42E9-B8E9-AB98D4EB6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2590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2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2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2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2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2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2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2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2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2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F5F7F8"/>
                </a:solidFill>
                <a:latin typeface="Segoe UI"/>
                <a:ea typeface="Segoe UI"/>
                <a:cs typeface="Segoe UI"/>
              </a:rPr>
              <a:t>Температура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2EC8FF-C987-4789-BB5A-24393A4DD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09575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2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2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2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2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2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2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2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2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2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F5F7F8"/>
                </a:solidFill>
                <a:latin typeface="Segoe UI"/>
                <a:ea typeface="Segoe UI"/>
                <a:cs typeface="Segoe UI"/>
              </a:rPr>
              <a:t>35 °C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EBF414-FDE5-4C59-BE5F-969FBEC38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09575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FF5161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200" b="0">
                <a:solidFill>
                  <a:srgbClr val="FF5161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200" b="0">
                <a:solidFill>
                  <a:srgbClr val="FF5161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200" b="0">
                <a:solidFill>
                  <a:srgbClr val="FF5161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200" b="0">
                <a:solidFill>
                  <a:srgbClr val="FF5161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200" b="0">
                <a:solidFill>
                  <a:srgbClr val="FF5161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200" b="0">
                <a:solidFill>
                  <a:srgbClr val="FF5161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200" b="0">
                <a:solidFill>
                  <a:srgbClr val="FF5161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200" b="0">
                <a:solidFill>
                  <a:srgbClr val="FF5161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200" b="0">
                <a:solidFill>
                  <a:srgbClr val="FF5161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5161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FF5161"/>
                </a:solidFill>
                <a:latin typeface="Segoe UI"/>
                <a:ea typeface="Segoe UI"/>
                <a:cs typeface="Segoe UI"/>
              </a:rPr>
              <a:t>50 °C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15046D7-9D12-481F-BFAB-A396F4E91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095750"/>
            <a:ext cx="278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2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2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2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2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2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2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2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2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2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F5F7F8"/>
                </a:solidFill>
                <a:latin typeface="Segoe UI"/>
                <a:ea typeface="Segoe UI"/>
                <a:cs typeface="Segoe UI"/>
              </a:rPr>
              <a:t>рост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D8BF5A2-448C-442A-A8DA-3BDD80C40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0"/>
            <a:ext cx="10839450" cy="476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D2229"/>
          </a:solidFill>
          <a:ln xmlns:a="http://schemas.openxmlformats.org/drawingml/2006/main" w="9525">
            <a:solidFill>
              <a:srgbClr val="29464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89D8311-473B-427E-BF38-0F9E24D60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86300"/>
            <a:ext cx="2590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2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2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2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2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2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2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2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2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2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F5F7F8"/>
                </a:solidFill>
                <a:latin typeface="Segoe UI"/>
                <a:ea typeface="Segoe UI"/>
                <a:cs typeface="Segoe UI"/>
              </a:rPr>
              <a:t>Скорость воздуха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4B649A7-72F7-471F-AC40-E5DF26631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68630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2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2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2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2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2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2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2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2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2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F5F7F8"/>
                </a:solidFill>
                <a:latin typeface="Segoe UI"/>
                <a:ea typeface="Segoe UI"/>
                <a:cs typeface="Segoe UI"/>
              </a:rPr>
              <a:t>0,8 м/с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20996E5-3969-4AB4-8DF4-AC56F70DE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68630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FF5161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200" b="0">
                <a:solidFill>
                  <a:srgbClr val="FF5161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200" b="0">
                <a:solidFill>
                  <a:srgbClr val="FF5161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200" b="0">
                <a:solidFill>
                  <a:srgbClr val="FF5161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200" b="0">
                <a:solidFill>
                  <a:srgbClr val="FF5161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200" b="0">
                <a:solidFill>
                  <a:srgbClr val="FF5161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200" b="0">
                <a:solidFill>
                  <a:srgbClr val="FF5161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200" b="0">
                <a:solidFill>
                  <a:srgbClr val="FF5161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200" b="0">
                <a:solidFill>
                  <a:srgbClr val="FF5161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200" b="0">
                <a:solidFill>
                  <a:srgbClr val="FF5161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5161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FF5161"/>
                </a:solidFill>
                <a:latin typeface="Segoe UI"/>
                <a:ea typeface="Segoe UI"/>
                <a:cs typeface="Segoe UI"/>
              </a:rPr>
              <a:t>0,3 м/с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61D04BE-0782-47A7-A51B-161766131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686300"/>
            <a:ext cx="278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2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2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2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2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2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2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2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2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2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F5F7F8"/>
                </a:solidFill>
                <a:latin typeface="Segoe UI"/>
                <a:ea typeface="Segoe UI"/>
                <a:cs typeface="Segoe UI"/>
              </a:rPr>
              <a:t>снижение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BE4EA7D-CEF6-487C-A717-88006244D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91150"/>
            <a:ext cx="895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F5F7F8"/>
                </a:solidFill>
                <a:latin typeface="Segoe UI"/>
                <a:ea typeface="Segoe UI"/>
                <a:cs typeface="Segoe UI"/>
              </a:rPr>
              <a:t>Логика учитывает направленный граф шахты: воздействие распространяется по ходу воздушного потока.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ABE2F8A-ABA3-4544-8952-EE6DC30D3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524500"/>
            <a:ext cx="1943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363E"/>
          </a:solidFill>
          <a:ln xmlns:a="http://schemas.openxmlformats.org/drawingml/2006/main" w="9525">
            <a:solidFill>
              <a:srgbClr val="16363E"/>
            </a:solidFill>
            <a:prstDash val="solid"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975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975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975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975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975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975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975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975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975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buNone/>
              <a:defRPr sz="975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27D7C6"/>
                </a:solidFill>
                <a:latin typeface="Segoe UI"/>
                <a:ea typeface="Segoe UI"/>
                <a:cs typeface="Segoe UI"/>
              </a:rPr>
              <a:t>ДЕТЕРМИНИРОВАННО</a:t>
            </a:r>
          </a:p>
        </p:txBody>
      </p:sp>
    </p:spTree>
    <p:extLst>
      <p:ext uri="{BB962C8B-B14F-4D97-AF65-F5344CB8AC3E}">
        <p14:creationId xmlns:p14="http://schemas.microsoft.com/office/powerpoint/2010/main" val="84435564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3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AA9169-E507-4B07-BB56-3838A5640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900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900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900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900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900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900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900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900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900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27D7C6"/>
                </a:solidFill>
                <a:latin typeface="Segoe UI"/>
                <a:ea typeface="Segoe UI"/>
                <a:cs typeface="Segoe UI"/>
              </a:rPr>
              <a:t>OPENEGIZ · КОНКУРСНЫЙ ПРОЕКТ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0A382D-F1E5-41EC-9EFA-7235162ED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82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82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82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82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82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82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82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82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82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82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82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pPr>
            <a:r>
              <a:rPr sz="825" b="0">
                <a:solidFill>
                  <a:srgbClr val="9EB3B9"/>
                </a:solidFill>
                <a:latin typeface="Segoe UI"/>
                <a:ea typeface="Segoe UI"/>
                <a:cs typeface="Segoe UI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BF87BA-679A-40FB-8B57-48A4190E7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52450" y="6400800"/>
            <a:ext cx="104965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64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BDC157-8311-441B-B5E5-EC6194734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85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85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85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85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85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85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85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85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85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pPr>
            <a:r>
              <a:rPr sz="2850" b="1">
                <a:solidFill>
                  <a:srgbClr val="F5F7F8"/>
                </a:solidFill>
                <a:latin typeface="Segoe UI"/>
                <a:ea typeface="Segoe UI"/>
                <a:cs typeface="Segoe UI"/>
              </a:rPr>
              <a:t>Результат проверен на полном стенде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F67281-79B2-4DEB-889F-787053167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430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35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35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35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35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35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35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35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35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35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9EB3B9"/>
                </a:solidFill>
                <a:latin typeface="Segoe UI"/>
                <a:ea typeface="Segoe UI"/>
                <a:cs typeface="Segoe UI"/>
              </a:rPr>
              <a:t>10 октября 2026 · локальный запуск на ноутбуке с 8 ГБ оперативной памяти.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9CC824-75B8-4288-8953-303DEFDC5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66900"/>
            <a:ext cx="2476500" cy="15430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D2229"/>
          </a:solidFill>
          <a:ln xmlns:a="http://schemas.openxmlformats.org/drawingml/2006/main" w="9525">
            <a:solidFill>
              <a:srgbClr val="29464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C23DEC-03EF-4900-B45A-2DFA05381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2019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750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3750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3750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3750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3750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3750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3750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3750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3750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3750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750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pPr>
            <a:r>
              <a:rPr sz="3750" b="1">
                <a:solidFill>
                  <a:srgbClr val="27D7C6"/>
                </a:solidFill>
                <a:latin typeface="Segoe UI"/>
                <a:ea typeface="Segoe UI"/>
                <a:cs typeface="Segoe UI"/>
              </a:rPr>
              <a:t>39/39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53DED5-B608-403E-806B-B6E0BA045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38450"/>
            <a:ext cx="2019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2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2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2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2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2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2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2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2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2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9EB3B9"/>
                </a:solidFill>
                <a:latin typeface="Segoe UI"/>
                <a:ea typeface="Segoe UI"/>
                <a:cs typeface="Segoe UI"/>
              </a:rPr>
              <a:t>unit-тестов пройдено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B7CB91-0B77-43B9-A57C-C07D95290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66900"/>
            <a:ext cx="2476500" cy="15430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D2229"/>
          </a:solidFill>
          <a:ln xmlns:a="http://schemas.openxmlformats.org/drawingml/2006/main" w="9525">
            <a:solidFill>
              <a:srgbClr val="29464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0B14FF-693D-4323-BA84-CAED37589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095500"/>
            <a:ext cx="2019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750" b="1">
                <a:solidFill>
                  <a:srgbClr val="56B6F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3750" b="1">
                <a:solidFill>
                  <a:srgbClr val="56B6F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3750" b="1">
                <a:solidFill>
                  <a:srgbClr val="56B6F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3750" b="1">
                <a:solidFill>
                  <a:srgbClr val="56B6F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3750" b="1">
                <a:solidFill>
                  <a:srgbClr val="56B6F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3750" b="1">
                <a:solidFill>
                  <a:srgbClr val="56B6F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3750" b="1">
                <a:solidFill>
                  <a:srgbClr val="56B6F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3750" b="1">
                <a:solidFill>
                  <a:srgbClr val="56B6F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3750" b="1">
                <a:solidFill>
                  <a:srgbClr val="56B6F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3750" b="1">
                <a:solidFill>
                  <a:srgbClr val="56B6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750" b="1">
                <a:solidFill>
                  <a:srgbClr val="56B6FF"/>
                </a:solidFill>
                <a:latin typeface="Segoe UI"/>
                <a:ea typeface="Segoe UI"/>
                <a:cs typeface="Segoe UI"/>
              </a:defRPr>
            </a:pPr>
            <a:r>
              <a:rPr sz="3750" b="1">
                <a:solidFill>
                  <a:srgbClr val="56B6FF"/>
                </a:solidFill>
                <a:latin typeface="Segoe UI"/>
                <a:ea typeface="Segoe UI"/>
                <a:cs typeface="Segoe UI"/>
              </a:rPr>
              <a:t>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D7B713-CAE7-4B63-A102-6FD901295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838450"/>
            <a:ext cx="2019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2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2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2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2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2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2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2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2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2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9EB3B9"/>
                </a:solidFill>
                <a:latin typeface="Segoe UI"/>
                <a:ea typeface="Segoe UI"/>
                <a:cs typeface="Segoe UI"/>
              </a:rPr>
              <a:t>двойников создано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A3B28C-9122-4FB7-91EC-85FAFCAFB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866900"/>
            <a:ext cx="2476500" cy="15430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D2229"/>
          </a:solidFill>
          <a:ln xmlns:a="http://schemas.openxmlformats.org/drawingml/2006/main" w="9525">
            <a:solidFill>
              <a:srgbClr val="29464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E7CE2F-1636-40A2-B679-56AD40718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095500"/>
            <a:ext cx="2019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750" b="1">
                <a:solidFill>
                  <a:srgbClr val="F3B63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3750" b="1">
                <a:solidFill>
                  <a:srgbClr val="F3B63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3750" b="1">
                <a:solidFill>
                  <a:srgbClr val="F3B63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3750" b="1">
                <a:solidFill>
                  <a:srgbClr val="F3B63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3750" b="1">
                <a:solidFill>
                  <a:srgbClr val="F3B63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3750" b="1">
                <a:solidFill>
                  <a:srgbClr val="F3B63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3750" b="1">
                <a:solidFill>
                  <a:srgbClr val="F3B63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3750" b="1">
                <a:solidFill>
                  <a:srgbClr val="F3B63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3750" b="1">
                <a:solidFill>
                  <a:srgbClr val="F3B63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3750" b="1">
                <a:solidFill>
                  <a:srgbClr val="F3B63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750" b="1">
                <a:solidFill>
                  <a:srgbClr val="F3B63F"/>
                </a:solidFill>
                <a:latin typeface="Segoe UI"/>
                <a:ea typeface="Segoe UI"/>
                <a:cs typeface="Segoe UI"/>
              </a:defRPr>
            </a:pPr>
            <a:r>
              <a:rPr sz="3750" b="1">
                <a:solidFill>
                  <a:srgbClr val="F3B63F"/>
                </a:solidFill>
                <a:latin typeface="Segoe UI"/>
                <a:ea typeface="Segoe UI"/>
                <a:cs typeface="Segoe UI"/>
              </a:rPr>
              <a:t>≈ 2 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E217E4-ECED-45CE-8C14-F4B155034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38450"/>
            <a:ext cx="2019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2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2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2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2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2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2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2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2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2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9EB3B9"/>
                </a:solidFill>
                <a:latin typeface="Segoe UI"/>
                <a:ea typeface="Segoe UI"/>
                <a:cs typeface="Segoe UI"/>
              </a:rPr>
              <a:t>фактический период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E081D9-A56F-49DB-BB3C-6D6DF93DF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66900"/>
            <a:ext cx="2895600" cy="15430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D2229"/>
          </a:solidFill>
          <a:ln xmlns:a="http://schemas.openxmlformats.org/drawingml/2006/main" w="9525">
            <a:solidFill>
              <a:srgbClr val="29464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E56172-1184-4ACC-8EFF-4DFB10BEE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095500"/>
            <a:ext cx="2438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750" b="1">
                <a:solidFill>
                  <a:srgbClr val="FF5161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3750" b="1">
                <a:solidFill>
                  <a:srgbClr val="FF5161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3750" b="1">
                <a:solidFill>
                  <a:srgbClr val="FF5161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3750" b="1">
                <a:solidFill>
                  <a:srgbClr val="FF5161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3750" b="1">
                <a:solidFill>
                  <a:srgbClr val="FF5161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3750" b="1">
                <a:solidFill>
                  <a:srgbClr val="FF5161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3750" b="1">
                <a:solidFill>
                  <a:srgbClr val="FF5161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3750" b="1">
                <a:solidFill>
                  <a:srgbClr val="FF5161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3750" b="1">
                <a:solidFill>
                  <a:srgbClr val="FF5161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3750" b="1">
                <a:solidFill>
                  <a:srgbClr val="FF5161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750" b="1">
                <a:solidFill>
                  <a:srgbClr val="FF5161"/>
                </a:solidFill>
                <a:latin typeface="Segoe UI"/>
                <a:ea typeface="Segoe UI"/>
                <a:cs typeface="Segoe UI"/>
              </a:defRPr>
            </a:pPr>
            <a:r>
              <a:rPr sz="3750" b="1">
                <a:solidFill>
                  <a:srgbClr val="FF5161"/>
                </a:solidFill>
                <a:latin typeface="Segoe UI"/>
                <a:ea typeface="Segoe UI"/>
                <a:cs typeface="Segoe UI"/>
              </a:rPr>
              <a:t>≤ 0,31 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5F524A-531C-4719-86A6-DB8DF755B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838450"/>
            <a:ext cx="2438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2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2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2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2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2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2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2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2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2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9EB3B9"/>
                </a:solidFill>
                <a:latin typeface="Segoe UI"/>
                <a:ea typeface="Segoe UI"/>
                <a:cs typeface="Segoe UI"/>
              </a:rPr>
              <a:t>реакция API сценария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C1CFD0-34B3-4546-99BF-E715D5819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05250"/>
            <a:ext cx="10839450" cy="1562100"/>
          </a:xfrm>
          <a:prstGeom xmlns:a="http://schemas.openxmlformats.org/drawingml/2006/main" prst="roundRect">
            <a:avLst>
              <a:gd name="adj" fmla="val 10976"/>
            </a:avLst>
          </a:prstGeom>
          <a:solidFill xmlns:a="http://schemas.openxmlformats.org/drawingml/2006/main">
            <a:srgbClr val="102C34"/>
          </a:solidFill>
          <a:ln xmlns:a="http://schemas.openxmlformats.org/drawingml/2006/main" w="9525">
            <a:solidFill>
              <a:srgbClr val="29464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3BF281-4C95-4FF0-B267-60286C37A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338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275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275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275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275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275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275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275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275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275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27D7C6"/>
                </a:solidFill>
                <a:latin typeface="Segoe UI"/>
                <a:ea typeface="Segoe UI"/>
                <a:cs typeface="Segoe UI"/>
              </a:rPr>
              <a:t>Проверено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EC978D-C9A6-43EA-9B74-A66AFFCF2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52950"/>
            <a:ext cx="981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1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1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1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1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1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1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1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1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1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F5F7F8"/>
                </a:solidFill>
                <a:latin typeface="Segoe UI"/>
                <a:ea typeface="Segoe UI"/>
                <a:cs typeface="Segoe UI"/>
              </a:rPr>
              <a:t>make up  →  make smoke  →  сценарии  →  reset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29E097-CC62-413C-B2CD-6D9424B58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67300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2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2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2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2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2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2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2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2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2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9EB3B9"/>
                </a:solidFill>
                <a:latin typeface="Segoe UI"/>
                <a:ea typeface="Segoe UI"/>
                <a:cs typeface="Segoe UI"/>
              </a:rPr>
              <a:t>MQTT → Ditto → Telegraf → InfluxDB → Grafana работает сквозным потоком.</a:t>
            </a:r>
          </a:p>
        </p:txBody>
      </p:sp>
    </p:spTree>
    <p:extLst>
      <p:ext uri="{BB962C8B-B14F-4D97-AF65-F5344CB8AC3E}">
        <p14:creationId xmlns:p14="http://schemas.microsoft.com/office/powerpoint/2010/main" val="205133536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3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0CC8E1-E5E9-450B-8B75-D1404FF25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900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900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900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900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900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900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900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900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900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27D7C6"/>
                </a:solidFill>
                <a:latin typeface="Segoe UI"/>
                <a:ea typeface="Segoe UI"/>
                <a:cs typeface="Segoe UI"/>
              </a:rPr>
              <a:t>ИТОГ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028ACD-E29B-4E0D-8DD6-4A1274B7A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82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82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82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82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82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82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82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82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82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82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82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pPr>
            <a:r>
              <a:rPr sz="825" b="0">
                <a:solidFill>
                  <a:srgbClr val="9EB3B9"/>
                </a:solidFill>
                <a:latin typeface="Segoe UI"/>
                <a:ea typeface="Segoe UI"/>
                <a:cs typeface="Segoe UI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4AE544-1BC1-4C84-A3DB-B702AF5F3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52450" y="6400800"/>
            <a:ext cx="104965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64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644CEA-1A9E-4D2F-9CF9-57FA85283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74295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6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36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36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36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36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36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36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36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36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36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96000"/>
              </a:lnSpc>
              <a:buNone/>
              <a:defRPr sz="36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pPr>
            <a:r>
              <a:rPr sz="3600" b="1">
                <a:solidFill>
                  <a:srgbClr val="F5F7F8"/>
                </a:solidFill>
                <a:latin typeface="Segoe UI"/>
                <a:ea typeface="Segoe UI"/>
                <a:cs typeface="Segoe UI"/>
              </a:rPr>
              <a:t>Безопасность становится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3600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pPr>
            <a:r>
              <a:rPr sz="3600" b="1">
                <a:solidFill>
                  <a:srgbClr val="F5F7F8"/>
                </a:solidFill>
                <a:latin typeface="Segoe UI"/>
                <a:ea typeface="Segoe UI"/>
                <a:cs typeface="Segoe UI"/>
              </a:rPr>
              <a:t>наблюдаемой и объяснимой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D5001F-CA4A-41AE-8A77-2267433B9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666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65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65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65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65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65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65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65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65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65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9EB3B9"/>
                </a:solidFill>
                <a:latin typeface="Segoe UI"/>
                <a:ea typeface="Segoe UI"/>
                <a:cs typeface="Segoe UI"/>
              </a:rPr>
              <a:t>Готовый цифровой двойник объединяет вентиляцию, прогноз, энергетику и маршруты эвакуации.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DEF893-652D-42BB-8842-8906EF2AF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857250"/>
            <a:ext cx="3714750" cy="2609850"/>
          </a:xfrm>
          <a:prstGeom xmlns:a="http://schemas.openxmlformats.org/drawingml/2006/main" prst="roundRect">
            <a:avLst>
              <a:gd name="adj" fmla="val 6569"/>
            </a:avLst>
          </a:prstGeom>
          <a:solidFill xmlns:a="http://schemas.openxmlformats.org/drawingml/2006/main">
            <a:srgbClr val="102C34"/>
          </a:solidFill>
          <a:ln xmlns:a="http://schemas.openxmlformats.org/drawingml/2006/main" w="9525">
            <a:solidFill>
              <a:srgbClr val="29464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2B6A46-A90D-4C0F-815F-ABAB432D1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1430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27D7C6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27D7C6"/>
                </a:solidFill>
                <a:latin typeface="Segoe UI"/>
                <a:ea typeface="Segoe UI"/>
                <a:cs typeface="Segoe UI"/>
              </a:rPr>
              <a:t>Ключевые возможности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ED3009-A6F8-437F-A0FA-BA2391F4E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17049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D7C6"/>
          </a:solidFill>
          <a:ln xmlns:a="http://schemas.openxmlformats.org/drawingml/2006/main" w="9525">
            <a:solidFill>
              <a:srgbClr val="27D7C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BBA72E-AFF6-4541-9205-47A52A814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657350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2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2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2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2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2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2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2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2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2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F5F7F8"/>
                </a:solidFill>
                <a:latin typeface="Segoe UI"/>
                <a:ea typeface="Segoe UI"/>
                <a:cs typeface="Segoe UI"/>
              </a:rPr>
              <a:t>Прогноз и советник по вентиляции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E0AED4-D27D-4C39-A991-B29833C64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2574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B63F"/>
          </a:solidFill>
          <a:ln xmlns:a="http://schemas.openxmlformats.org/drawingml/2006/main" w="9525">
            <a:solidFill>
              <a:srgbClr val="F3B63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0D5AD3-CF0F-4186-BB20-29BD1E4A8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209800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2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2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2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2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2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2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2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2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2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F5F7F8"/>
                </a:solidFill>
                <a:latin typeface="Segoe UI"/>
                <a:ea typeface="Segoe UI"/>
                <a:cs typeface="Segoe UI"/>
              </a:rPr>
              <a:t>Энергетика вентиляторов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2FA217-314E-43C9-9904-1ACBEC377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8098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6B6FF"/>
          </a:solidFill>
          <a:ln xmlns:a="http://schemas.openxmlformats.org/drawingml/2006/main" w="9525">
            <a:solidFill>
              <a:srgbClr val="56B6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D511DB-2CAD-4BA8-B2E7-903D7867E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62250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2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2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2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2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2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2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2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2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2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F5F7F8"/>
                </a:solidFill>
                <a:latin typeface="Segoe UI"/>
                <a:ea typeface="Segoe UI"/>
                <a:cs typeface="Segoe UI"/>
              </a:rPr>
              <a:t>Маршрут и анимация эвакуации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5E275E-9055-4065-A20F-8C2D8ACB5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19550"/>
            <a:ext cx="10953750" cy="1581150"/>
          </a:xfrm>
          <a:prstGeom xmlns:a="http://schemas.openxmlformats.org/drawingml/2006/main" prst="roundRect">
            <a:avLst>
              <a:gd name="adj" fmla="val 10843"/>
            </a:avLst>
          </a:prstGeom>
          <a:solidFill xmlns:a="http://schemas.openxmlformats.org/drawingml/2006/main">
            <a:srgbClr val="0D2229"/>
          </a:solidFill>
          <a:ln xmlns:a="http://schemas.openxmlformats.org/drawingml/2006/main" w="9525">
            <a:solidFill>
              <a:srgbClr val="27D7C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59D27F-3D38-41B4-9055-D774B3BBE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75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75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75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75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75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75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75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75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75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F5F7F8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F5F7F8"/>
                </a:solidFill>
                <a:latin typeface="Segoe UI"/>
                <a:ea typeface="Segoe UI"/>
                <a:cs typeface="Segoe UI"/>
              </a:rPr>
              <a:t>ARA Solution · Каспийский общественный университет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BBA1DB-9955-4E61-B566-9D2AE2CEB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25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42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42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42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42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42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42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42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42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42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9EB3B9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9EB3B9"/>
                </a:solidFill>
                <a:latin typeface="Segoe UI"/>
                <a:ea typeface="Segoe UI"/>
                <a:cs typeface="Segoe UI"/>
              </a:rPr>
              <a:t>Левицкий Роман Владимирович  ·  Якушенков Артур Борисович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110E0F-9939-4C98-B0A8-D7DCEC53B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57700"/>
            <a:ext cx="2667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D7C6"/>
          </a:solidFill>
          <a:ln xmlns:a="http://schemas.openxmlformats.org/drawingml/2006/main" w="9525">
            <a:solidFill>
              <a:srgbClr val="27D7C6"/>
            </a:solidFill>
            <a:prstDash val="solid"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071318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975" b="1">
                <a:solidFill>
                  <a:srgbClr val="071318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975" b="1">
                <a:solidFill>
                  <a:srgbClr val="071318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975" b="1">
                <a:solidFill>
                  <a:srgbClr val="071318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975" b="1">
                <a:solidFill>
                  <a:srgbClr val="071318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975" b="1">
                <a:solidFill>
                  <a:srgbClr val="071318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975" b="1">
                <a:solidFill>
                  <a:srgbClr val="071318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975" b="1">
                <a:solidFill>
                  <a:srgbClr val="071318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975" b="1">
                <a:solidFill>
                  <a:srgbClr val="071318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975" b="1">
                <a:solidFill>
                  <a:srgbClr val="07131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buNone/>
              <a:defRPr sz="975" b="1">
                <a:solidFill>
                  <a:srgbClr val="071318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071318"/>
                </a:solidFill>
                <a:latin typeface="Segoe UI"/>
                <a:ea typeface="Segoe UI"/>
                <a:cs typeface="Segoe UI"/>
              </a:rPr>
              <a:t>СПАСИБО ЗА ВНИМАНИЕ</a:t>
            </a:r>
          </a:p>
        </p:txBody>
      </p:sp>
    </p:spTree>
    <p:extLst>
      <p:ext uri="{BB962C8B-B14F-4D97-AF65-F5344CB8AC3E}">
        <p14:creationId xmlns:p14="http://schemas.microsoft.com/office/powerpoint/2010/main" val="7642853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2026-10-19T03:36:59.1270000Z</dcterms:created>
  <dcterms:modified xsi:type="dcterms:W3CDTF">2026-10-19T03:36:59.1270000Z</dcterms:modified>
</coreProperties>
</file>